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Prata" panose="020B0604020202020204" charset="0"/>
      <p:regular r:id="rId18"/>
    </p:embeddedFont>
    <p:embeddedFont>
      <p:font typeface="Raleway" pitchFamily="2" charset="0"/>
      <p:regular r:id="rId19"/>
    </p:embeddedFont>
    <p:embeddedFont>
      <p:font typeface="Raleway Bold"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On-Device Cryptographic Processing</a:t>
            </a:r>
          </a:p>
          <a:p>
            <a:endParaRPr lang="en-US"/>
          </a:p>
          <a:p>
            <a:r>
              <a:rPr lang="en-US"/>
              <a:t>Meaning:</a:t>
            </a:r>
          </a:p>
          <a:p>
            <a:r>
              <a:rPr lang="en-US"/>
              <a:t>Protect the biometric data inside the scanner before sending it to the server.</a:t>
            </a:r>
          </a:p>
          <a:p>
            <a:endParaRPr lang="en-US"/>
          </a:p>
          <a:p>
            <a:r>
              <a:rPr lang="en-US"/>
              <a:t>Example:</a:t>
            </a:r>
          </a:p>
          <a:p>
            <a:r>
              <a:rPr lang="en-US"/>
              <a:t>A fingerprint is scanned → the scanner converts it into a protected mathematical representation → only that protected data is sent to the server.</a:t>
            </a:r>
          </a:p>
          <a:p>
            <a:endParaRPr lang="en-US"/>
          </a:p>
          <a:p>
            <a:r>
              <a:rPr lang="en-US"/>
              <a:t>Why:</a:t>
            </a:r>
          </a:p>
          <a:p>
            <a:r>
              <a:rPr lang="en-US"/>
              <a:t>If someone intercepts the data, they don't get the original fingerprint information. This addresses the paper's concern about raw biometric data leaving the scanner.</a:t>
            </a:r>
          </a:p>
          <a:p>
            <a:endParaRPr lang="en-US"/>
          </a:p>
          <a:p>
            <a:r>
              <a:rPr lang="en-US"/>
              <a:t>Hardware-Based Cryptographic Protection</a:t>
            </a:r>
          </a:p>
          <a:p>
            <a:endParaRPr lang="en-US"/>
          </a:p>
          <a:p>
            <a:r>
              <a:rPr lang="en-US"/>
              <a:t>Meaning:</a:t>
            </a:r>
          </a:p>
          <a:p>
            <a:r>
              <a:rPr lang="en-US"/>
              <a:t>Use secure chips or protected hardware inside the biometric device to protect sensitive data and encryption operations.</a:t>
            </a:r>
          </a:p>
          <a:p>
            <a:endParaRPr lang="en-US"/>
          </a:p>
          <a:p>
            <a:r>
              <a:rPr lang="en-US"/>
              <a:t>Example:</a:t>
            </a:r>
          </a:p>
          <a:p>
            <a:r>
              <a:rPr lang="en-US"/>
              <a:t>If someone physically takes apart a fingerprint scanner, they should not be able to simply remove a chip and retrieve stored biometric information or encryption keys.</a:t>
            </a:r>
          </a:p>
          <a:p>
            <a:endParaRPr lang="en-US"/>
          </a:p>
          <a:p>
            <a:r>
              <a:rPr lang="en-US"/>
              <a:t>Why:</a:t>
            </a:r>
          </a:p>
          <a:p>
            <a:r>
              <a:rPr lang="en-US"/>
              <a:t>It protects the device against physical or logical extraction of sensitive information.</a:t>
            </a:r>
          </a:p>
          <a:p>
            <a:endParaRPr lang="en-US"/>
          </a:p>
          <a:p>
            <a:r>
              <a:rPr lang="en-US"/>
              <a:t>Physical Tamper Protection</a:t>
            </a:r>
          </a:p>
          <a:p>
            <a:endParaRPr lang="en-US"/>
          </a:p>
          <a:p>
            <a:r>
              <a:rPr lang="en-US"/>
              <a:t>Meaning:</a:t>
            </a:r>
          </a:p>
          <a:p>
            <a:r>
              <a:rPr lang="en-US"/>
              <a:t>The scanner should detect when someone physically opens or tampers with it.</a:t>
            </a:r>
          </a:p>
          <a:p>
            <a:endParaRPr lang="en-US"/>
          </a:p>
          <a:p>
            <a:r>
              <a:rPr lang="en-US"/>
              <a:t>Example:</a:t>
            </a:r>
          </a:p>
          <a:p>
            <a:r>
              <a:rPr lang="en-US"/>
              <a:t>Someone opens the scanner casing → the device detects the tampering → stored sensitive information is erased or an alert is sent to the administrator.</a:t>
            </a:r>
          </a:p>
          <a:p>
            <a:endParaRPr lang="en-US"/>
          </a:p>
          <a:p>
            <a:r>
              <a:rPr lang="en-US"/>
              <a:t>Why:</a:t>
            </a:r>
          </a:p>
          <a:p>
            <a:r>
              <a:rPr lang="en-US"/>
              <a:t>It adds protection against someone physically attacking the biometric terminal.</a:t>
            </a:r>
          </a:p>
          <a:p>
            <a:endParaRPr lang="en-US"/>
          </a:p>
          <a:p>
            <a:r>
              <a:rPr lang="en-US"/>
              <a:t>Mandatory Database Encryption at Rest</a:t>
            </a:r>
          </a:p>
          <a:p>
            <a:endParaRPr lang="en-US"/>
          </a:p>
          <a:p>
            <a:r>
              <a:rPr lang="en-US"/>
              <a:t>Meaning:</a:t>
            </a:r>
          </a:p>
          <a:p>
            <a:r>
              <a:rPr lang="en-US"/>
              <a:t>Encrypt sensitive information while it is stored in the database.</a:t>
            </a:r>
          </a:p>
          <a:p>
            <a:endParaRPr lang="en-US"/>
          </a:p>
          <a:p>
            <a:r>
              <a:rPr lang="en-US"/>
              <a:t>Example:</a:t>
            </a:r>
          </a:p>
          <a:p>
            <a:r>
              <a:rPr lang="en-US"/>
              <a:t>Instead of storing:</a:t>
            </a:r>
          </a:p>
          <a:p>
            <a:endParaRPr lang="en-US"/>
          </a:p>
          <a:p>
            <a:r>
              <a:rPr lang="en-US"/>
              <a:t>John Doe – Fingerprint Data – Password</a:t>
            </a:r>
          </a:p>
          <a:p>
            <a:endParaRPr lang="en-US"/>
          </a:p>
          <a:p>
            <a:r>
              <a:rPr lang="en-US"/>
              <a:t>the database stores the information in encrypted form that cannot simply be read.</a:t>
            </a:r>
          </a:p>
          <a:p>
            <a:endParaRPr lang="en-US"/>
          </a:p>
          <a:p>
            <a:r>
              <a:rPr lang="en-US"/>
              <a:t>Why:</a:t>
            </a:r>
          </a:p>
          <a:p>
            <a:r>
              <a:rPr lang="en-US"/>
              <a:t>If an attacker steals the database, the information is still protected. The paper specifically recommends strong encryption such as AES-256.</a:t>
            </a:r>
          </a:p>
          <a:p>
            <a:endParaRPr lang="en-US"/>
          </a:p>
          <a:p>
            <a:r>
              <a:rPr lang="en-US"/>
              <a:t>Secure Web Application Frameworks</a:t>
            </a:r>
          </a:p>
          <a:p>
            <a:endParaRPr lang="en-US"/>
          </a:p>
          <a:p>
            <a:r>
              <a:rPr lang="en-US"/>
              <a:t>Meaning:</a:t>
            </a:r>
          </a:p>
          <a:p>
            <a:r>
              <a:rPr lang="en-US"/>
              <a:t>The application must check whether a user is actually allowed to access or modify the requested information.</a:t>
            </a:r>
          </a:p>
          <a:p>
            <a:endParaRPr lang="en-US"/>
          </a:p>
          <a:p>
            <a:r>
              <a:rPr lang="en-US"/>
              <a:t>Example:</a:t>
            </a:r>
          </a:p>
          <a:p>
            <a:endParaRPr lang="en-US"/>
          </a:p>
          <a:p>
            <a:r>
              <a:rPr lang="en-US"/>
              <a:t>An employee can access:</a:t>
            </a:r>
          </a:p>
          <a:p>
            <a:endParaRPr lang="en-US"/>
          </a:p>
          <a:p>
            <a:r>
              <a:rPr lang="en-US"/>
              <a:t>User ID 100</a:t>
            </a:r>
          </a:p>
          <a:p>
            <a:endParaRPr lang="en-US"/>
          </a:p>
          <a:p>
            <a:r>
              <a:rPr lang="en-US"/>
              <a:t>They change the URL to:</a:t>
            </a:r>
          </a:p>
          <a:p>
            <a:endParaRPr lang="en-US"/>
          </a:p>
          <a:p>
            <a:r>
              <a:rPr lang="en-US"/>
              <a:t>User ID 101</a:t>
            </a:r>
          </a:p>
          <a:p>
            <a:endParaRPr lang="en-US"/>
          </a:p>
          <a:p>
            <a:r>
              <a:rPr lang="en-US"/>
              <a:t>The system should reject the request instead of showing User 101's information.</a:t>
            </a:r>
          </a:p>
          <a:p>
            <a:endParaRPr lang="en-US"/>
          </a:p>
          <a:p>
            <a:r>
              <a:rPr lang="en-US"/>
              <a:t>Why:</a:t>
            </a:r>
          </a:p>
          <a:p>
            <a:r>
              <a:rPr lang="en-US"/>
              <a:t>This prevents unauthorized access through URL or parameter manipulation, which was one of the weaknesses identified in the BioStar 2 system.</a:t>
            </a:r>
          </a:p>
          <a:p>
            <a:endParaRPr lang="en-US"/>
          </a:p>
          <a:p>
            <a:r>
              <a:rPr lang="en-US"/>
              <a:t>Cryptographic Password Protection</a:t>
            </a:r>
          </a:p>
          <a:p>
            <a:endParaRPr lang="en-US"/>
          </a:p>
          <a:p>
            <a:r>
              <a:rPr lang="en-US"/>
              <a:t>Meaning:</a:t>
            </a:r>
          </a:p>
          <a:p>
            <a:r>
              <a:rPr lang="en-US"/>
              <a:t>Never store passwords as plain text. Store them using secure password hashing with unique salts.</a:t>
            </a:r>
          </a:p>
          <a:p>
            <a:endParaRPr lang="en-US"/>
          </a:p>
          <a:p>
            <a:r>
              <a:rPr lang="en-US"/>
              <a:t>Example:</a:t>
            </a:r>
          </a:p>
          <a:p>
            <a:endParaRPr lang="en-US"/>
          </a:p>
          <a:p>
            <a:r>
              <a:rPr lang="en-US"/>
              <a:t>Instead of the database containing:</a:t>
            </a:r>
          </a:p>
          <a:p>
            <a:endParaRPr lang="en-US"/>
          </a:p>
          <a:p>
            <a:r>
              <a:rPr lang="en-US"/>
              <a:t>Admin → password123</a:t>
            </a:r>
          </a:p>
          <a:p>
            <a:endParaRPr lang="en-US"/>
          </a:p>
          <a:p>
            <a:r>
              <a:rPr lang="en-US"/>
              <a:t>it stores a password hash that cannot simply be read as the original password.</a:t>
            </a:r>
          </a:p>
          <a:p>
            <a:endParaRPr lang="en-US"/>
          </a:p>
          <a:p>
            <a:r>
              <a:rPr lang="en-US"/>
              <a:t>Why:</a:t>
            </a:r>
          </a:p>
          <a:p>
            <a:r>
              <a:rPr lang="en-US"/>
              <a:t>If the database is compromised, attackers shouldn't immediately see everyone's passwords. This directly addresses the paper's finding that administrative credentials were stored in plain text.</a:t>
            </a:r>
          </a:p>
          <a:p>
            <a:endParaRPr lang="en-US"/>
          </a:p>
          <a:p>
            <a:r>
              <a:rPr lang="en-US"/>
              <a:t>Layered Physical Access Points</a:t>
            </a:r>
          </a:p>
          <a:p>
            <a:endParaRPr lang="en-US"/>
          </a:p>
          <a:p>
            <a:r>
              <a:rPr lang="en-US"/>
              <a:t>Meaning:</a:t>
            </a:r>
          </a:p>
          <a:p>
            <a:r>
              <a:rPr lang="en-US"/>
              <a:t>Don't rely on the biometric scanner as the only security check.</a:t>
            </a:r>
          </a:p>
          <a:p>
            <a:endParaRPr lang="en-US"/>
          </a:p>
          <a:p>
            <a:r>
              <a:rPr lang="en-US"/>
              <a:t>Example:</a:t>
            </a:r>
          </a:p>
          <a:p>
            <a:endParaRPr lang="en-US"/>
          </a:p>
          <a:p>
            <a:r>
              <a:rPr lang="en-US"/>
              <a:t>Instead of:</a:t>
            </a:r>
          </a:p>
          <a:p>
            <a:endParaRPr lang="en-US"/>
          </a:p>
          <a:p>
            <a:r>
              <a:rPr lang="en-US"/>
              <a:t>Fingerprint → Door opens</a:t>
            </a:r>
          </a:p>
          <a:p>
            <a:endParaRPr lang="en-US"/>
          </a:p>
          <a:p>
            <a:r>
              <a:rPr lang="en-US"/>
              <a:t>use:</a:t>
            </a:r>
          </a:p>
          <a:p>
            <a:endParaRPr lang="en-US"/>
          </a:p>
          <a:p>
            <a:r>
              <a:rPr lang="en-US"/>
              <a:t>Fingerprint → Badge/security verification → Door opens</a:t>
            </a:r>
          </a:p>
          <a:p>
            <a:endParaRPr lang="en-US"/>
          </a:p>
          <a:p>
            <a:r>
              <a:rPr lang="en-US"/>
              <a:t>A security guard could also verify suspicious or unusual access attempts.</a:t>
            </a:r>
          </a:p>
          <a:p>
            <a:endParaRPr lang="en-US"/>
          </a:p>
          <a:p>
            <a:r>
              <a:rPr lang="en-US"/>
              <a:t>Why:</a:t>
            </a:r>
          </a:p>
          <a:p>
            <a:r>
              <a:rPr lang="en-US"/>
              <a:t>If the biometric system is compromised, another security layer can still prevent unauthorized entry.</a:t>
            </a:r>
          </a:p>
          <a:p>
            <a:endParaRPr lang="en-US"/>
          </a:p>
          <a:p>
            <a:r>
              <a:rPr lang="en-US"/>
              <a:t>Physical Server &amp; Terminal Security</a:t>
            </a:r>
          </a:p>
          <a:p>
            <a:endParaRPr lang="en-US"/>
          </a:p>
          <a:p>
            <a:r>
              <a:rPr lang="en-US"/>
              <a:t>Meaning:</a:t>
            </a:r>
          </a:p>
          <a:p>
            <a:r>
              <a:rPr lang="en-US"/>
              <a:t>Keep important servers and networking equipment in secure areas.</a:t>
            </a:r>
          </a:p>
          <a:p>
            <a:endParaRPr lang="en-US"/>
          </a:p>
          <a:p>
            <a:r>
              <a:rPr lang="en-US"/>
              <a:t>Example:</a:t>
            </a:r>
          </a:p>
          <a:p>
            <a:r>
              <a:rPr lang="en-US"/>
              <a:t>The BioStar server is placed inside a locked server room. Only authorized IT staff have access.</a:t>
            </a:r>
          </a:p>
          <a:p>
            <a:endParaRPr lang="en-US"/>
          </a:p>
          <a:p>
            <a:r>
              <a:rPr lang="en-US"/>
              <a:t>Why:</a:t>
            </a:r>
          </a:p>
          <a:p>
            <a:r>
              <a:rPr lang="en-US"/>
              <a:t>Someone who can physically access the server or network equipment could potentially tamper with or steal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Database Network Isolation</a:t>
            </a:r>
          </a:p>
          <a:p>
            <a:endParaRPr lang="en-US"/>
          </a:p>
          <a:p>
            <a:r>
              <a:rPr lang="en-US"/>
              <a:t>Meaning:</a:t>
            </a:r>
          </a:p>
          <a:p>
            <a:r>
              <a:rPr lang="en-US"/>
              <a:t>The database should not be directly reachable from the public internet.</a:t>
            </a:r>
          </a:p>
          <a:p>
            <a:endParaRPr lang="en-US"/>
          </a:p>
          <a:p>
            <a:r>
              <a:rPr lang="en-US"/>
              <a:t>Example:</a:t>
            </a:r>
          </a:p>
          <a:p>
            <a:endParaRPr lang="en-US"/>
          </a:p>
          <a:p>
            <a:r>
              <a:rPr lang="en-US"/>
              <a:t>❌ Bad:</a:t>
            </a:r>
          </a:p>
          <a:p>
            <a:endParaRPr lang="en-US"/>
          </a:p>
          <a:p>
            <a:r>
              <a:rPr lang="en-US"/>
              <a:t>Internet → Database</a:t>
            </a:r>
          </a:p>
          <a:p>
            <a:endParaRPr lang="en-US"/>
          </a:p>
          <a:p>
            <a:r>
              <a:rPr lang="en-US"/>
              <a:t>✅ Better:</a:t>
            </a:r>
          </a:p>
          <a:p>
            <a:endParaRPr lang="en-US"/>
          </a:p>
          <a:p>
            <a:r>
              <a:rPr lang="en-US"/>
              <a:t>Internet → Firewall → Application → Database</a:t>
            </a:r>
          </a:p>
          <a:p>
            <a:endParaRPr lang="en-US"/>
          </a:p>
          <a:p>
            <a:r>
              <a:rPr lang="en-US"/>
              <a:t>The firewall only allows authorized systems to communicate with the database.</a:t>
            </a:r>
          </a:p>
          <a:p>
            <a:endParaRPr lang="en-US"/>
          </a:p>
          <a:p>
            <a:r>
              <a:rPr lang="en-US"/>
              <a:t>Why:</a:t>
            </a:r>
          </a:p>
          <a:p>
            <a:r>
              <a:rPr lang="en-US"/>
              <a:t>This directly prevents the kind of public exposure that occurred in the BioStar 2 incident.</a:t>
            </a:r>
          </a:p>
          <a:p>
            <a:endParaRPr lang="en-US"/>
          </a:p>
          <a:p>
            <a:r>
              <a:rPr lang="en-US"/>
              <a:t>Network Segmentation</a:t>
            </a:r>
          </a:p>
          <a:p>
            <a:endParaRPr lang="en-US"/>
          </a:p>
          <a:p>
            <a:r>
              <a:rPr lang="en-US"/>
              <a:t>Meaning:</a:t>
            </a:r>
          </a:p>
          <a:p>
            <a:r>
              <a:rPr lang="en-US"/>
              <a:t>Separate important devices into different networks/VLANs.</a:t>
            </a:r>
          </a:p>
          <a:p>
            <a:endParaRPr lang="en-US"/>
          </a:p>
          <a:p>
            <a:r>
              <a:rPr lang="en-US"/>
              <a:t>Example:</a:t>
            </a:r>
          </a:p>
          <a:p>
            <a:endParaRPr lang="en-US"/>
          </a:p>
          <a:p>
            <a:r>
              <a:rPr lang="en-US"/>
              <a:t>VLAN 10 → Office computers</a:t>
            </a:r>
          </a:p>
          <a:p>
            <a:r>
              <a:rPr lang="en-US"/>
              <a:t>VLAN 20 → Guest Wi-Fi</a:t>
            </a:r>
          </a:p>
          <a:p>
            <a:r>
              <a:rPr lang="en-US"/>
              <a:t>VLAN 30 → Biometric scanners</a:t>
            </a:r>
          </a:p>
          <a:p>
            <a:r>
              <a:rPr lang="en-US"/>
              <a:t>VLAN 40 → Servers</a:t>
            </a:r>
          </a:p>
          <a:p>
            <a:endParaRPr lang="en-US"/>
          </a:p>
          <a:p>
            <a:r>
              <a:rPr lang="en-US"/>
              <a:t>An office computer shouldn't automatically be able to communicate directly with the biometric server.</a:t>
            </a:r>
          </a:p>
          <a:p>
            <a:endParaRPr lang="en-US"/>
          </a:p>
          <a:p>
            <a:r>
              <a:rPr lang="en-US"/>
              <a:t>Why:</a:t>
            </a:r>
          </a:p>
          <a:p>
            <a:r>
              <a:rPr lang="en-US"/>
              <a:t>If one network is compromised, segmentation limits the attacker's ability to move to other systems. The paper specifically recommends isolating biometric readers on dedicated VLANs.</a:t>
            </a:r>
          </a:p>
          <a:p>
            <a:endParaRPr lang="en-US"/>
          </a:p>
          <a:p>
            <a:r>
              <a:rPr lang="en-US"/>
              <a:t>Role-Based Access Control (RBAC)</a:t>
            </a:r>
          </a:p>
          <a:p>
            <a:endParaRPr lang="en-US"/>
          </a:p>
          <a:p>
            <a:r>
              <a:rPr lang="en-US"/>
              <a:t>Meaning:</a:t>
            </a:r>
          </a:p>
          <a:p>
            <a:r>
              <a:rPr lang="en-US"/>
              <a:t>Give users only the permissions they need for their job.</a:t>
            </a:r>
          </a:p>
          <a:p>
            <a:endParaRPr lang="en-US"/>
          </a:p>
          <a:p>
            <a:r>
              <a:rPr lang="en-US"/>
              <a:t>Example:</a:t>
            </a:r>
          </a:p>
          <a:p>
            <a:endParaRPr lang="en-US"/>
          </a:p>
          <a:p>
            <a:r>
              <a:rPr lang="en-US"/>
              <a:t>Role	Permission</a:t>
            </a:r>
          </a:p>
          <a:p>
            <a:r>
              <a:rPr lang="en-US"/>
              <a:t>Security Guard	View access logs</a:t>
            </a:r>
          </a:p>
          <a:p>
            <a:r>
              <a:rPr lang="en-US"/>
              <a:t>Manager	Manage users</a:t>
            </a:r>
          </a:p>
          <a:p>
            <a:r>
              <a:rPr lang="en-US"/>
              <a:t>IT Administrator	Configure system</a:t>
            </a:r>
          </a:p>
          <a:p>
            <a:r>
              <a:rPr lang="en-US"/>
              <a:t>Regular Employee	Access own attendance</a:t>
            </a:r>
          </a:p>
          <a:p>
            <a:endParaRPr lang="en-US"/>
          </a:p>
          <a:p>
            <a:r>
              <a:rPr lang="en-US"/>
              <a:t>A security guard shouldn't be able to modify everyone's biometric information.</a:t>
            </a:r>
          </a:p>
          <a:p>
            <a:endParaRPr lang="en-US"/>
          </a:p>
          <a:p>
            <a:r>
              <a:rPr lang="en-US"/>
              <a:t>Why:</a:t>
            </a:r>
          </a:p>
          <a:p>
            <a:r>
              <a:rPr lang="en-US"/>
              <a:t>It follows the principle of least privilege, reducing the damage that can happen if an account is compromised.</a:t>
            </a:r>
          </a:p>
          <a:p>
            <a:endParaRPr lang="en-US"/>
          </a:p>
          <a:p>
            <a:r>
              <a:rPr lang="en-US"/>
              <a:t>Multi-Factor Authentication (MFA)</a:t>
            </a:r>
          </a:p>
          <a:p>
            <a:endParaRPr lang="en-US"/>
          </a:p>
          <a:p>
            <a:r>
              <a:rPr lang="en-US"/>
              <a:t>Meaning:</a:t>
            </a:r>
          </a:p>
          <a:p>
            <a:r>
              <a:rPr lang="en-US"/>
              <a:t>Require more than just a password when an administrator logs in.</a:t>
            </a:r>
          </a:p>
          <a:p>
            <a:endParaRPr lang="en-US"/>
          </a:p>
          <a:p>
            <a:r>
              <a:rPr lang="en-US"/>
              <a:t>Example:</a:t>
            </a:r>
          </a:p>
          <a:p>
            <a:endParaRPr lang="en-US"/>
          </a:p>
          <a:p>
            <a:r>
              <a:rPr lang="en-US"/>
              <a:t>Username + Password + Authentication Code</a:t>
            </a:r>
          </a:p>
          <a:p>
            <a:endParaRPr lang="en-US"/>
          </a:p>
          <a:p>
            <a:r>
              <a:rPr lang="en-US"/>
              <a:t>So even if an attacker steals the administrator's password, they still need the second factor.</a:t>
            </a:r>
          </a:p>
          <a:p>
            <a:endParaRPr lang="en-US"/>
          </a:p>
          <a:p>
            <a:r>
              <a:rPr lang="en-US"/>
              <a:t>Why:</a:t>
            </a:r>
          </a:p>
          <a:p>
            <a:r>
              <a:rPr lang="en-US"/>
              <a:t>It provides another layer of protection for highly privileged accounts.</a:t>
            </a:r>
          </a:p>
          <a:p>
            <a:endParaRPr lang="en-US"/>
          </a:p>
          <a:p>
            <a:r>
              <a:rPr lang="en-US"/>
              <a:t>Routine Security Audits &amp; Vulnerability Testing</a:t>
            </a:r>
          </a:p>
          <a:p>
            <a:endParaRPr lang="en-US"/>
          </a:p>
          <a:p>
            <a:r>
              <a:rPr lang="en-US"/>
              <a:t>Meaning:</a:t>
            </a:r>
          </a:p>
          <a:p>
            <a:r>
              <a:rPr lang="en-US"/>
              <a:t>Regularly check the system for security weaknesses before attackers find them.</a:t>
            </a:r>
          </a:p>
          <a:p>
            <a:endParaRPr lang="en-US"/>
          </a:p>
          <a:p>
            <a:r>
              <a:rPr lang="en-US"/>
              <a:t>Example:</a:t>
            </a:r>
          </a:p>
          <a:p>
            <a:r>
              <a:rPr lang="en-US"/>
              <a:t>A company hires security professionals to perform a penetration test and discovers:</a:t>
            </a:r>
          </a:p>
          <a:p>
            <a:endParaRPr lang="en-US"/>
          </a:p>
          <a:p>
            <a:r>
              <a:rPr lang="en-US"/>
              <a:t>"Your database can be accessed from the internet without authentication."</a:t>
            </a:r>
          </a:p>
          <a:p>
            <a:endParaRPr lang="en-US"/>
          </a:p>
          <a:p>
            <a:r>
              <a:rPr lang="en-US"/>
              <a:t>The organization can fix it before a real attacker exploits it.</a:t>
            </a:r>
          </a:p>
          <a:p>
            <a:endParaRPr lang="en-US"/>
          </a:p>
          <a:p>
            <a:r>
              <a:rPr lang="en-US"/>
              <a:t>Why:</a:t>
            </a:r>
          </a:p>
          <a:p>
            <a:r>
              <a:rPr lang="en-US"/>
              <a:t>The paper recommends third-party security reviews, penetration testing, and configuration checks.</a:t>
            </a:r>
          </a:p>
          <a:p>
            <a:endParaRPr lang="en-US"/>
          </a:p>
          <a:p>
            <a:r>
              <a:rPr lang="en-US"/>
              <a:t>Vendor Risk Assessment</a:t>
            </a:r>
          </a:p>
          <a:p>
            <a:endParaRPr lang="en-US"/>
          </a:p>
          <a:p>
            <a:r>
              <a:rPr lang="en-US"/>
              <a:t>Meaning:</a:t>
            </a:r>
          </a:p>
          <a:p>
            <a:r>
              <a:rPr lang="en-US"/>
              <a:t>Check the security of a third-party company/product before using it.</a:t>
            </a:r>
          </a:p>
          <a:p>
            <a:endParaRPr lang="en-US"/>
          </a:p>
          <a:p>
            <a:r>
              <a:rPr lang="en-US"/>
              <a:t>Example:</a:t>
            </a:r>
          </a:p>
          <a:p>
            <a:r>
              <a:rPr lang="en-US"/>
              <a:t>Before deploying a biometric system, Power World Gyms could ask:</a:t>
            </a:r>
          </a:p>
          <a:p>
            <a:endParaRPr lang="en-US"/>
          </a:p>
          <a:p>
            <a:r>
              <a:rPr lang="en-US"/>
              <a:t>"Does the system encrypt biometric data?"</a:t>
            </a:r>
          </a:p>
          <a:p>
            <a:r>
              <a:rPr lang="en-US"/>
              <a:t>"Are passwords securely stored?"</a:t>
            </a:r>
          </a:p>
          <a:p>
            <a:r>
              <a:rPr lang="en-US"/>
              <a:t>"Can the database be accessed from the internet?"</a:t>
            </a:r>
          </a:p>
          <a:p>
            <a:r>
              <a:rPr lang="en-US"/>
              <a:t>"How does the vendor handle vulnerabilities?"</a:t>
            </a:r>
          </a:p>
          <a:p>
            <a:endParaRPr lang="en-US"/>
          </a:p>
          <a:p>
            <a:r>
              <a:rPr lang="en-US"/>
              <a:t>Why:</a:t>
            </a:r>
          </a:p>
          <a:p>
            <a:r>
              <a:rPr lang="en-US"/>
              <a:t>Organizations are also responsible for risks introduced by the hardware and software they purchase from vendors.</a:t>
            </a:r>
          </a:p>
          <a:p>
            <a:endParaRPr lang="en-US"/>
          </a:p>
          <a:p>
            <a:endParaRPr lang="en-US"/>
          </a:p>
          <a:p>
            <a:r>
              <a:rPr lang="en-US"/>
              <a:t>Edge based crytographic - "hash at sensor not at the server", Normally, a fingerprint or face scan gets converted into a "template" and if it was stored or transmitted in plain, reversible form, anyone who steals it has effectively stolen the person's fingerprint. By building the hashing (a one-way cryptographic transform) directly into the scanner hardware, the raw template never leaves the device unprotected — only an irreversible hash travels downstream.</a:t>
            </a:r>
          </a:p>
          <a:p>
            <a:endParaRPr lang="en-US"/>
          </a:p>
          <a:p>
            <a:r>
              <a:rPr lang="en-US"/>
              <a:t>Hardware-Based Storage &amp; Integrity Protections</a:t>
            </a:r>
          </a:p>
          <a:p>
            <a:r>
              <a:rPr lang="en-US"/>
              <a:t>This refers to things like a Trusted Platform Module (TPM) or Secure Enclave embedded in the reader itself. These are tamper-resistant chips that store cryptographic keys and firmware in a way that's extremely difficult to physically extract, even if someone has the device in their hands. Without this, an attacker with physical access could potentially desolder chips, dump firmware, or extract configuration keys used to authenticate the device to the backend — allowing spoofed devices or manipulated data.</a:t>
            </a:r>
          </a:p>
          <a:p>
            <a:endParaRPr lang="en-US"/>
          </a:p>
          <a:p>
            <a:r>
              <a:rPr lang="en-US"/>
              <a:t>Encrypted Endpoint Channels refers to the two ends of that connection — the scanner (one endpoint) and the server (the other endpoint) — and "encrypted channel" means the data is locked up for that entire journey between those two points, not that the journey itself changes. It's still going through the local network. It's just unreadable and tamper-evident while it does.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AES-256 encryption at rest</a:t>
            </a:r>
          </a:p>
          <a:p>
            <a:r>
              <a:rPr lang="en-US"/>
              <a:t>"At rest" is the key phrase — it means data while it's sitting in storage, on a hard drive, not while it's moving across a network.</a:t>
            </a:r>
          </a:p>
          <a:p>
            <a:endParaRPr lang="en-US"/>
          </a:p>
          <a:p>
            <a:r>
              <a:rPr lang="en-US"/>
              <a:t>AES-256 is a specific, very strong, industry-standard encryption algorithm. So this means: even if someone bypasses every other defense and gets direct access to the actual database files sitting on disk, what they find isn't your biometric templates in plain readable form — it's ciphertext, scrambled by AES-256, unreadable without the correct decryption key. Similar in spirit to hashing (which we discussed earlier) but not identical — encryption is reversible if you have the key, whereas hashing is designed to be irreversible even with a key.</a:t>
            </a:r>
          </a:p>
          <a:p>
            <a:endParaRPr lang="en-US"/>
          </a:p>
          <a:p>
            <a:endParaRPr lang="en-US"/>
          </a:p>
          <a:p>
            <a:r>
              <a:rPr lang="en-US"/>
              <a:t>Automated &amp; Manual Security Code Reviews (Development Phase)</a:t>
            </a:r>
          </a:p>
          <a:p>
            <a:endParaRPr lang="en-US"/>
          </a:p>
          <a:p>
            <a:r>
              <a:rPr lang="en-US"/>
              <a:t>-Static Application Security Testing (SAST) scans source code without running it, looking for patterns like hardcoded credentials, plaintext password fields, or missing encryption calls.</a:t>
            </a:r>
          </a:p>
          <a:p>
            <a:endParaRPr lang="en-US"/>
          </a:p>
          <a:p>
            <a:r>
              <a:rPr lang="en-US"/>
              <a:t>-Dynamic Application Security Testing (DAST) tests the running application, sending malicious inputs to see how it behaves.</a:t>
            </a:r>
          </a:p>
          <a:p>
            <a:r>
              <a:rPr lang="en-US"/>
              <a:t>Together, these would catch things like unhashed biometric variables sitting in code, or URL parameters that pass sensitive data without sanitization — before the code ever reaches production.</a:t>
            </a:r>
          </a:p>
          <a:p>
            <a:endParaRPr lang="en-US"/>
          </a:p>
          <a:p>
            <a:r>
              <a:rPr lang="en-US"/>
              <a:t>Strict Parameterized Queries &amp; Access Controls (Coding Standards)</a:t>
            </a:r>
          </a:p>
          <a:p>
            <a:r>
              <a:rPr lang="en-US"/>
              <a:t>- Parameterized queries prevent SQL/NoSQL injection by treating user input strictly as data, never as executable query logic. The "address bar manipulation" mentioned refers to Insecure Direct Object Reference — e.g., changing ?user_id=1002 to ?user_id=1003 in a URL to view someone else's data. Proper server-side authorization checks (verifying the logged-in user actually owns or has rights to the requested resource, not just checking that they're logged in at all) close this gap.</a:t>
            </a:r>
          </a:p>
          <a:p>
            <a:endParaRPr lang="en-US"/>
          </a:p>
          <a:p>
            <a:r>
              <a:rPr lang="en-US"/>
              <a:t>Elastucsearch is a popular database/search engine technology. It's specifically designed to store large amounts of data and let you search through it extremely fast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2019 Suprema BioStar 2 data breach at Power World Gyms </a:t>
            </a:r>
          </a:p>
          <a:p>
            <a:endParaRPr lang="en-US"/>
          </a:p>
          <a:p>
            <a:r>
              <a:rPr lang="en-US"/>
              <a:t>the failure started - hardware.</a:t>
            </a:r>
          </a:p>
          <a:p>
            <a:r>
              <a:rPr lang="en-US"/>
              <a:t>compounded - software.</a:t>
            </a:r>
          </a:p>
          <a:p>
            <a:endParaRPr lang="en-US"/>
          </a:p>
          <a:p>
            <a:r>
              <a:rPr lang="en-US"/>
              <a:t>So the real lesson here is: security isn't just one lock on one door. It's the scanner, the database, the passwords, and the website code all needing to hold up together. This case is basically what happens when literally every one of those layers fails at the same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hyperlink" Target="https://www.techmonitor.ai/technology/cybersecurity/biostar-2-vpnmentor" TargetMode="External"/><Relationship Id="rId3" Type="http://schemas.openxmlformats.org/officeDocument/2006/relationships/hyperlink" Target="https://pdf.aeroexpo.online/pdf/cem-systems/suprema-biostar-2/172460-29410.html" TargetMode="External"/><Relationship Id="rId7" Type="http://schemas.openxmlformats.org/officeDocument/2006/relationships/hyperlink" Target="https://www.biometricupdate.com/201908/millions-of-unencrypted-biometric-fingerprint-and-face-records-exposed-to-web-suprema-responds" TargetMode="External"/><Relationship Id="rId2" Type="http://schemas.openxmlformats.org/officeDocument/2006/relationships/hyperlink" Target="https://www.vpnmentor.com/blog/report-biostar2-leak/" TargetMode="External"/><Relationship Id="rId1" Type="http://schemas.openxmlformats.org/officeDocument/2006/relationships/slideLayout" Target="../slideLayouts/slideLayout7.xml"/><Relationship Id="rId6" Type="http://schemas.openxmlformats.org/officeDocument/2006/relationships/hyperlink" Target="https://www.securityinfowatch.com/access-identity/biometrics/news/21093873/report-biometric-data-exposed-in-suprema-biostar-2-breach" TargetMode="External"/><Relationship Id="rId5" Type="http://schemas.openxmlformats.org/officeDocument/2006/relationships/hyperlink" Target="https://www.technewsworld.com/story/28m-records-exposed-in-biometric-security-data-breach-86186.html" TargetMode="External"/><Relationship Id="rId4" Type="http://schemas.openxmlformats.org/officeDocument/2006/relationships/hyperlink" Target="https://www.infosecurity-magazine.com/news/millions-of-records-exposed/" TargetMode="External"/><Relationship Id="rId9" Type="http://schemas.openxmlformats.org/officeDocument/2006/relationships/hyperlink" Target="https://www.cshub.com/attacks/articles/incident-of-the-week-passwords-and-biometrics-info-for-one-million-users-exposed-in-biostar-2-data-brea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776554" y="1785265"/>
            <a:ext cx="12734892" cy="4911751"/>
          </a:xfrm>
          <a:prstGeom prst="rect">
            <a:avLst/>
          </a:prstGeom>
        </p:spPr>
        <p:txBody>
          <a:bodyPr lIns="0" tIns="0" rIns="0" bIns="0" rtlCol="0" anchor="t">
            <a:spAutoFit/>
          </a:bodyPr>
          <a:lstStyle/>
          <a:p>
            <a:pPr algn="ctr">
              <a:lnSpc>
                <a:spcPts val="5501"/>
              </a:lnSpc>
            </a:pPr>
            <a:r>
              <a:rPr lang="en-US" sz="5501">
                <a:solidFill>
                  <a:srgbClr val="344E41"/>
                </a:solidFill>
                <a:latin typeface="Prata"/>
                <a:ea typeface="Prata"/>
                <a:cs typeface="Prata"/>
                <a:sym typeface="Prata"/>
              </a:rPr>
              <a:t>A CASE STUDY OF WEAK BIOMETRIC ATTENDANCE AND ACCESS CONTROL SYSTEMS: HARDWARE AND SOFTWARE VULNERABILITIES IN POWER WORLD GYMS’ BIOSTAR 2 DEPLOYMENT</a:t>
            </a: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p:cNvSpPr txBox="1"/>
          <p:nvPr/>
        </p:nvSpPr>
        <p:spPr>
          <a:xfrm>
            <a:off x="7730117" y="9536430"/>
            <a:ext cx="2827765" cy="415290"/>
          </a:xfrm>
          <a:prstGeom prst="rect">
            <a:avLst/>
          </a:prstGeom>
        </p:spPr>
        <p:txBody>
          <a:bodyPr lIns="0" tIns="0" rIns="0" bIns="0" rtlCol="0" anchor="t">
            <a:spAutoFit/>
          </a:bodyPr>
          <a:lstStyle/>
          <a:p>
            <a:pPr algn="l">
              <a:lnSpc>
                <a:spcPts val="3359"/>
              </a:lnSpc>
            </a:pPr>
            <a:r>
              <a:rPr lang="en-US" sz="2400">
                <a:solidFill>
                  <a:srgbClr val="344E41"/>
                </a:solidFill>
                <a:latin typeface="Raleway"/>
                <a:ea typeface="Raleway"/>
                <a:cs typeface="Raleway"/>
                <a:sym typeface="Raleway"/>
              </a:rPr>
              <a:t>September 14, 2o26</a:t>
            </a:r>
          </a:p>
        </p:txBody>
      </p:sp>
      <p:sp>
        <p:nvSpPr>
          <p:cNvPr id="6" name="TextBox 6"/>
          <p:cNvSpPr txBox="1"/>
          <p:nvPr/>
        </p:nvSpPr>
        <p:spPr>
          <a:xfrm>
            <a:off x="14133367" y="6916091"/>
            <a:ext cx="3125933" cy="2055495"/>
          </a:xfrm>
          <a:prstGeom prst="rect">
            <a:avLst/>
          </a:prstGeom>
        </p:spPr>
        <p:txBody>
          <a:bodyPr lIns="0" tIns="0" rIns="0" bIns="0" rtlCol="0" anchor="t">
            <a:spAutoFit/>
          </a:bodyPr>
          <a:lstStyle/>
          <a:p>
            <a:pPr algn="just">
              <a:lnSpc>
                <a:spcPts val="2700"/>
              </a:lnSpc>
            </a:pPr>
            <a:r>
              <a:rPr lang="en-US" sz="1800">
                <a:solidFill>
                  <a:srgbClr val="344E41"/>
                </a:solidFill>
                <a:latin typeface="Raleway"/>
                <a:ea typeface="Raleway"/>
                <a:cs typeface="Raleway"/>
                <a:sym typeface="Raleway"/>
              </a:rPr>
              <a:t>Members: </a:t>
            </a:r>
          </a:p>
          <a:p>
            <a:pPr algn="just">
              <a:lnSpc>
                <a:spcPts val="2700"/>
              </a:lnSpc>
            </a:pPr>
            <a:r>
              <a:rPr lang="en-US" sz="1800" b="1">
                <a:solidFill>
                  <a:srgbClr val="344E41"/>
                </a:solidFill>
                <a:latin typeface="Raleway Bold"/>
                <a:ea typeface="Raleway Bold"/>
                <a:cs typeface="Raleway Bold"/>
                <a:sym typeface="Raleway Bold"/>
              </a:rPr>
              <a:t>Balite, Dwaine Roxette E.</a:t>
            </a:r>
          </a:p>
          <a:p>
            <a:pPr algn="just">
              <a:lnSpc>
                <a:spcPts val="2700"/>
              </a:lnSpc>
            </a:pPr>
            <a:r>
              <a:rPr lang="en-US" sz="1800" b="1">
                <a:solidFill>
                  <a:srgbClr val="344E41"/>
                </a:solidFill>
                <a:latin typeface="Raleway Bold"/>
                <a:ea typeface="Raleway Bold"/>
                <a:cs typeface="Raleway Bold"/>
                <a:sym typeface="Raleway Bold"/>
              </a:rPr>
              <a:t>Jotojot, Fidel Jr. C.</a:t>
            </a:r>
          </a:p>
          <a:p>
            <a:pPr algn="just">
              <a:lnSpc>
                <a:spcPts val="2700"/>
              </a:lnSpc>
            </a:pPr>
            <a:r>
              <a:rPr lang="en-US" sz="1800" b="1">
                <a:solidFill>
                  <a:srgbClr val="344E41"/>
                </a:solidFill>
                <a:latin typeface="Raleway Bold"/>
                <a:ea typeface="Raleway Bold"/>
                <a:cs typeface="Raleway Bold"/>
                <a:sym typeface="Raleway Bold"/>
              </a:rPr>
              <a:t>Lorenzo, Eunice G.</a:t>
            </a:r>
          </a:p>
          <a:p>
            <a:pPr algn="just">
              <a:lnSpc>
                <a:spcPts val="2700"/>
              </a:lnSpc>
            </a:pPr>
            <a:r>
              <a:rPr lang="en-US" sz="1800" b="1">
                <a:solidFill>
                  <a:srgbClr val="344E41"/>
                </a:solidFill>
                <a:latin typeface="Raleway Bold"/>
                <a:ea typeface="Raleway Bold"/>
                <a:cs typeface="Raleway Bold"/>
                <a:sym typeface="Raleway Bold"/>
              </a:rPr>
              <a:t>Maraon, Rodel James G.</a:t>
            </a:r>
          </a:p>
          <a:p>
            <a:pPr algn="just">
              <a:lnSpc>
                <a:spcPts val="2700"/>
              </a:lnSpc>
            </a:pPr>
            <a:r>
              <a:rPr lang="en-US" sz="1800" b="1">
                <a:solidFill>
                  <a:srgbClr val="344E41"/>
                </a:solidFill>
                <a:latin typeface="Raleway Bold"/>
                <a:ea typeface="Raleway Bold"/>
                <a:cs typeface="Raleway Bold"/>
                <a:sym typeface="Raleway Bold"/>
              </a:rPr>
              <a:t>Palco, Nathaniel 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811662"/>
            <a:ext cx="18288000" cy="475338"/>
            <a:chOff x="0" y="0"/>
            <a:chExt cx="12372622" cy="321587"/>
          </a:xfrm>
        </p:grpSpPr>
        <p:sp>
          <p:nvSpPr>
            <p:cNvPr id="3" name="Freeform 3"/>
            <p:cNvSpPr/>
            <p:nvPr/>
          </p:nvSpPr>
          <p:spPr>
            <a:xfrm>
              <a:off x="0" y="0"/>
              <a:ext cx="12372622" cy="321587"/>
            </a:xfrm>
            <a:custGeom>
              <a:avLst/>
              <a:gdLst/>
              <a:ahLst/>
              <a:cxnLst/>
              <a:rect l="l" t="t" r="r" b="b"/>
              <a:pathLst>
                <a:path w="12372622" h="321587">
                  <a:moveTo>
                    <a:pt x="0" y="0"/>
                  </a:moveTo>
                  <a:lnTo>
                    <a:pt x="12372622" y="0"/>
                  </a:lnTo>
                  <a:lnTo>
                    <a:pt x="12372622" y="321587"/>
                  </a:lnTo>
                  <a:lnTo>
                    <a:pt x="0" y="321587"/>
                  </a:lnTo>
                  <a:close/>
                </a:path>
              </a:pathLst>
            </a:custGeom>
            <a:solidFill>
              <a:srgbClr val="A3B18A"/>
            </a:solidFill>
          </p:spPr>
        </p:sp>
      </p:grpSp>
      <p:sp>
        <p:nvSpPr>
          <p:cNvPr id="4" name="Freeform 4"/>
          <p:cNvSpPr/>
          <p:nvPr/>
        </p:nvSpPr>
        <p:spPr>
          <a:xfrm>
            <a:off x="532260" y="1833040"/>
            <a:ext cx="7050314" cy="3450248"/>
          </a:xfrm>
          <a:custGeom>
            <a:avLst/>
            <a:gdLst/>
            <a:ahLst/>
            <a:cxnLst/>
            <a:rect l="l" t="t" r="r" b="b"/>
            <a:pathLst>
              <a:path w="7050314" h="3450248">
                <a:moveTo>
                  <a:pt x="0" y="0"/>
                </a:moveTo>
                <a:lnTo>
                  <a:pt x="7050315" y="0"/>
                </a:lnTo>
                <a:lnTo>
                  <a:pt x="7050315" y="3450248"/>
                </a:lnTo>
                <a:lnTo>
                  <a:pt x="0" y="3450248"/>
                </a:lnTo>
                <a:lnTo>
                  <a:pt x="0" y="0"/>
                </a:lnTo>
                <a:close/>
              </a:path>
            </a:pathLst>
          </a:custGeom>
          <a:blipFill>
            <a:blip r:embed="rId2"/>
            <a:stretch>
              <a:fillRect/>
            </a:stretch>
          </a:blipFill>
        </p:spPr>
      </p:sp>
      <p:sp>
        <p:nvSpPr>
          <p:cNvPr id="5" name="TextBox 5"/>
          <p:cNvSpPr txBox="1"/>
          <p:nvPr/>
        </p:nvSpPr>
        <p:spPr>
          <a:xfrm>
            <a:off x="317200" y="182041"/>
            <a:ext cx="4496271" cy="688974"/>
          </a:xfrm>
          <a:prstGeom prst="rect">
            <a:avLst/>
          </a:prstGeom>
        </p:spPr>
        <p:txBody>
          <a:bodyPr lIns="0" tIns="0" rIns="0" bIns="0" rtlCol="0" anchor="t">
            <a:spAutoFit/>
          </a:bodyPr>
          <a:lstStyle/>
          <a:p>
            <a:pPr algn="l">
              <a:lnSpc>
                <a:spcPts val="5600"/>
              </a:lnSpc>
            </a:pPr>
            <a:r>
              <a:rPr lang="en-US" sz="4000">
                <a:solidFill>
                  <a:srgbClr val="344E41"/>
                </a:solidFill>
                <a:latin typeface="Prata"/>
                <a:ea typeface="Prata"/>
                <a:cs typeface="Prata"/>
                <a:sym typeface="Prata"/>
              </a:rPr>
              <a:t>INTRODUCTION</a:t>
            </a:r>
          </a:p>
        </p:txBody>
      </p:sp>
      <p:sp>
        <p:nvSpPr>
          <p:cNvPr id="6" name="TextBox 6"/>
          <p:cNvSpPr txBox="1"/>
          <p:nvPr/>
        </p:nvSpPr>
        <p:spPr>
          <a:xfrm>
            <a:off x="6318918" y="735130"/>
            <a:ext cx="7679341" cy="924555"/>
          </a:xfrm>
          <a:prstGeom prst="rect">
            <a:avLst/>
          </a:prstGeom>
        </p:spPr>
        <p:txBody>
          <a:bodyPr lIns="0" tIns="0" rIns="0" bIns="0" rtlCol="0" anchor="t">
            <a:spAutoFit/>
          </a:bodyPr>
          <a:lstStyle/>
          <a:p>
            <a:pPr algn="ctr">
              <a:lnSpc>
                <a:spcPts val="7576"/>
              </a:lnSpc>
              <a:spcBef>
                <a:spcPct val="0"/>
              </a:spcBef>
            </a:pPr>
            <a:r>
              <a:rPr lang="en-US" sz="5411">
                <a:solidFill>
                  <a:srgbClr val="344E41"/>
                </a:solidFill>
                <a:latin typeface="Prata"/>
                <a:ea typeface="Prata"/>
                <a:cs typeface="Prata"/>
                <a:sym typeface="Prata"/>
              </a:rPr>
              <a:t>POWER WORLD GYM</a:t>
            </a:r>
          </a:p>
        </p:txBody>
      </p:sp>
      <p:sp>
        <p:nvSpPr>
          <p:cNvPr id="7" name="TextBox 7"/>
          <p:cNvSpPr txBox="1"/>
          <p:nvPr/>
        </p:nvSpPr>
        <p:spPr>
          <a:xfrm>
            <a:off x="8016170" y="2091866"/>
            <a:ext cx="6689080" cy="420751"/>
          </a:xfrm>
          <a:prstGeom prst="rect">
            <a:avLst/>
          </a:prstGeom>
        </p:spPr>
        <p:txBody>
          <a:bodyPr lIns="0" tIns="0" rIns="0" bIns="0" rtlCol="0" anchor="t">
            <a:spAutoFit/>
          </a:bodyPr>
          <a:lstStyle/>
          <a:p>
            <a:pPr marL="552703" lvl="1" indent="-276352" algn="l">
              <a:lnSpc>
                <a:spcPts val="3583"/>
              </a:lnSpc>
              <a:buFont typeface="Arial"/>
              <a:buChar char="•"/>
            </a:pPr>
            <a:r>
              <a:rPr lang="en-US" sz="2559">
                <a:solidFill>
                  <a:srgbClr val="344E41"/>
                </a:solidFill>
                <a:latin typeface="Prata"/>
                <a:ea typeface="Prata"/>
                <a:cs typeface="Prata"/>
                <a:sym typeface="Prata"/>
              </a:rPr>
              <a:t>Founded: Talavou Alailima in Colombo.</a:t>
            </a:r>
          </a:p>
        </p:txBody>
      </p:sp>
      <p:sp>
        <p:nvSpPr>
          <p:cNvPr id="8" name="TextBox 8"/>
          <p:cNvSpPr txBox="1"/>
          <p:nvPr/>
        </p:nvSpPr>
        <p:spPr>
          <a:xfrm>
            <a:off x="7993908" y="1621585"/>
            <a:ext cx="4987826" cy="420751"/>
          </a:xfrm>
          <a:prstGeom prst="rect">
            <a:avLst/>
          </a:prstGeom>
        </p:spPr>
        <p:txBody>
          <a:bodyPr lIns="0" tIns="0" rIns="0" bIns="0" rtlCol="0" anchor="t">
            <a:spAutoFit/>
          </a:bodyPr>
          <a:lstStyle/>
          <a:p>
            <a:pPr marL="552703" lvl="1" indent="-276352" algn="l">
              <a:lnSpc>
                <a:spcPts val="3583"/>
              </a:lnSpc>
              <a:buFont typeface="Arial"/>
              <a:buChar char="•"/>
            </a:pPr>
            <a:r>
              <a:rPr lang="en-US" sz="2559">
                <a:solidFill>
                  <a:srgbClr val="344E41"/>
                </a:solidFill>
                <a:latin typeface="Prata"/>
                <a:ea typeface="Prata"/>
                <a:cs typeface="Prata"/>
                <a:sym typeface="Prata"/>
              </a:rPr>
              <a:t> Largest fitness center chain </a:t>
            </a:r>
          </a:p>
        </p:txBody>
      </p:sp>
      <p:sp>
        <p:nvSpPr>
          <p:cNvPr id="9" name="TextBox 9"/>
          <p:cNvSpPr txBox="1"/>
          <p:nvPr/>
        </p:nvSpPr>
        <p:spPr>
          <a:xfrm>
            <a:off x="8016170" y="2560243"/>
            <a:ext cx="10093955" cy="1316101"/>
          </a:xfrm>
          <a:prstGeom prst="rect">
            <a:avLst/>
          </a:prstGeom>
        </p:spPr>
        <p:txBody>
          <a:bodyPr lIns="0" tIns="0" rIns="0" bIns="0" rtlCol="0" anchor="t">
            <a:spAutoFit/>
          </a:bodyPr>
          <a:lstStyle/>
          <a:p>
            <a:pPr marL="552703" lvl="1" indent="-276352" algn="l">
              <a:lnSpc>
                <a:spcPts val="3583"/>
              </a:lnSpc>
              <a:buFont typeface="Arial"/>
              <a:buChar char="•"/>
            </a:pPr>
            <a:r>
              <a:rPr lang="en-US" sz="2559">
                <a:solidFill>
                  <a:srgbClr val="344E41"/>
                </a:solidFill>
                <a:latin typeface="Prata"/>
                <a:ea typeface="Prata"/>
                <a:cs typeface="Prata"/>
                <a:sym typeface="Prata"/>
              </a:rPr>
              <a:t>Operating over 20 facilities with more than 113,000 registered members and employees across Sri Lanka and India </a:t>
            </a:r>
          </a:p>
        </p:txBody>
      </p:sp>
      <p:sp>
        <p:nvSpPr>
          <p:cNvPr id="10" name="Freeform 10"/>
          <p:cNvSpPr/>
          <p:nvPr/>
        </p:nvSpPr>
        <p:spPr>
          <a:xfrm>
            <a:off x="408094" y="5616468"/>
            <a:ext cx="7174481" cy="3233000"/>
          </a:xfrm>
          <a:custGeom>
            <a:avLst/>
            <a:gdLst/>
            <a:ahLst/>
            <a:cxnLst/>
            <a:rect l="l" t="t" r="r" b="b"/>
            <a:pathLst>
              <a:path w="7174481" h="3233000">
                <a:moveTo>
                  <a:pt x="0" y="0"/>
                </a:moveTo>
                <a:lnTo>
                  <a:pt x="7174481" y="0"/>
                </a:lnTo>
                <a:lnTo>
                  <a:pt x="7174481" y="3233001"/>
                </a:lnTo>
                <a:lnTo>
                  <a:pt x="0" y="3233001"/>
                </a:lnTo>
                <a:lnTo>
                  <a:pt x="0" y="0"/>
                </a:lnTo>
                <a:close/>
              </a:path>
            </a:pathLst>
          </a:custGeom>
          <a:blipFill>
            <a:blip r:embed="rId3"/>
            <a:stretch>
              <a:fillRect/>
            </a:stretch>
          </a:blipFill>
        </p:spPr>
      </p:sp>
      <p:sp>
        <p:nvSpPr>
          <p:cNvPr id="11" name="TextBox 11"/>
          <p:cNvSpPr txBox="1"/>
          <p:nvPr/>
        </p:nvSpPr>
        <p:spPr>
          <a:xfrm>
            <a:off x="7993908" y="3923969"/>
            <a:ext cx="9791834" cy="1319026"/>
          </a:xfrm>
          <a:prstGeom prst="rect">
            <a:avLst/>
          </a:prstGeom>
        </p:spPr>
        <p:txBody>
          <a:bodyPr lIns="0" tIns="0" rIns="0" bIns="0" rtlCol="0" anchor="t">
            <a:spAutoFit/>
          </a:bodyPr>
          <a:lstStyle/>
          <a:p>
            <a:pPr marL="553603" lvl="1" indent="-276802" algn="l">
              <a:lnSpc>
                <a:spcPts val="3589"/>
              </a:lnSpc>
              <a:buFont typeface="Arial"/>
              <a:buChar char="•"/>
            </a:pPr>
            <a:r>
              <a:rPr lang="en-US" sz="2564">
                <a:solidFill>
                  <a:srgbClr val="344E41"/>
                </a:solidFill>
                <a:latin typeface="Prata"/>
                <a:ea typeface="Prata"/>
                <a:cs typeface="Prata"/>
                <a:sym typeface="Prata"/>
              </a:rPr>
              <a:t>Biostar 2 -  web based security platform, designed with an intuitive and user-friendly interface to manage different control access systems of Suprema.</a:t>
            </a:r>
          </a:p>
        </p:txBody>
      </p:sp>
      <p:sp>
        <p:nvSpPr>
          <p:cNvPr id="12" name="TextBox 12"/>
          <p:cNvSpPr txBox="1"/>
          <p:nvPr/>
        </p:nvSpPr>
        <p:spPr>
          <a:xfrm>
            <a:off x="8016170" y="5335114"/>
            <a:ext cx="8993913" cy="1319026"/>
          </a:xfrm>
          <a:prstGeom prst="rect">
            <a:avLst/>
          </a:prstGeom>
        </p:spPr>
        <p:txBody>
          <a:bodyPr lIns="0" tIns="0" rIns="0" bIns="0" rtlCol="0" anchor="t">
            <a:spAutoFit/>
          </a:bodyPr>
          <a:lstStyle/>
          <a:p>
            <a:pPr marL="553603" lvl="1" indent="-276802" algn="l">
              <a:lnSpc>
                <a:spcPts val="3589"/>
              </a:lnSpc>
              <a:buFont typeface="Arial"/>
              <a:buChar char="•"/>
            </a:pPr>
            <a:r>
              <a:rPr lang="en-US" sz="2564">
                <a:solidFill>
                  <a:srgbClr val="344E41"/>
                </a:solidFill>
                <a:latin typeface="Prata"/>
                <a:ea typeface="Prata"/>
                <a:cs typeface="Prata"/>
                <a:sym typeface="Prata"/>
              </a:rPr>
              <a:t>August 2019, Noam Rotem and Ran Locar from vpnMentor discovered a massive security incident involving Power World Gyms’ BioStar 2 database</a:t>
            </a:r>
          </a:p>
        </p:txBody>
      </p:sp>
      <p:sp>
        <p:nvSpPr>
          <p:cNvPr id="13" name="TextBox 13"/>
          <p:cNvSpPr txBox="1"/>
          <p:nvPr/>
        </p:nvSpPr>
        <p:spPr>
          <a:xfrm>
            <a:off x="7867941" y="6824979"/>
            <a:ext cx="5617649" cy="2211451"/>
          </a:xfrm>
          <a:prstGeom prst="rect">
            <a:avLst/>
          </a:prstGeom>
        </p:spPr>
        <p:txBody>
          <a:bodyPr lIns="0" tIns="0" rIns="0" bIns="0" rtlCol="0" anchor="t">
            <a:spAutoFit/>
          </a:bodyPr>
          <a:lstStyle/>
          <a:p>
            <a:pPr marL="552703" lvl="1" indent="-276352" algn="l">
              <a:lnSpc>
                <a:spcPts val="3583"/>
              </a:lnSpc>
              <a:buFont typeface="Arial"/>
              <a:buChar char="•"/>
            </a:pPr>
            <a:r>
              <a:rPr lang="en-US" sz="2559">
                <a:solidFill>
                  <a:srgbClr val="344E41"/>
                </a:solidFill>
                <a:latin typeface="Prata"/>
                <a:ea typeface="Prata"/>
                <a:cs typeface="Prata"/>
                <a:sym typeface="Prata"/>
              </a:rPr>
              <a:t>Exposed unencrypted binary fingerprint templates</a:t>
            </a:r>
          </a:p>
          <a:p>
            <a:pPr marL="552703" lvl="1" indent="-276352" algn="l">
              <a:lnSpc>
                <a:spcPts val="3583"/>
              </a:lnSpc>
              <a:buFont typeface="Arial"/>
              <a:buChar char="•"/>
            </a:pPr>
            <a:r>
              <a:rPr lang="en-US" sz="2559">
                <a:solidFill>
                  <a:srgbClr val="344E41"/>
                </a:solidFill>
                <a:latin typeface="Prata"/>
                <a:ea typeface="Prata"/>
                <a:cs typeface="Prata"/>
                <a:sym typeface="Prata"/>
              </a:rPr>
              <a:t>Facial recognition profiles</a:t>
            </a:r>
          </a:p>
          <a:p>
            <a:pPr marL="552703" lvl="1" indent="-276352" algn="l">
              <a:lnSpc>
                <a:spcPts val="3583"/>
              </a:lnSpc>
              <a:buFont typeface="Arial"/>
              <a:buChar char="•"/>
            </a:pPr>
            <a:r>
              <a:rPr lang="en-US" sz="2559">
                <a:solidFill>
                  <a:srgbClr val="344E41"/>
                </a:solidFill>
                <a:latin typeface="Prata"/>
                <a:ea typeface="Prata"/>
                <a:cs typeface="Prata"/>
                <a:sym typeface="Prata"/>
              </a:rPr>
              <a:t>Plain-text administrator credentials</a:t>
            </a:r>
          </a:p>
        </p:txBody>
      </p:sp>
      <p:sp>
        <p:nvSpPr>
          <p:cNvPr id="14" name="TextBox 14"/>
          <p:cNvSpPr txBox="1"/>
          <p:nvPr/>
        </p:nvSpPr>
        <p:spPr>
          <a:xfrm>
            <a:off x="13063148" y="6824979"/>
            <a:ext cx="5306267" cy="1767711"/>
          </a:xfrm>
          <a:prstGeom prst="rect">
            <a:avLst/>
          </a:prstGeom>
        </p:spPr>
        <p:txBody>
          <a:bodyPr lIns="0" tIns="0" rIns="0" bIns="0" rtlCol="0" anchor="t">
            <a:spAutoFit/>
          </a:bodyPr>
          <a:lstStyle/>
          <a:p>
            <a:pPr marL="553603" lvl="1" indent="-276802" algn="l">
              <a:lnSpc>
                <a:spcPts val="3589"/>
              </a:lnSpc>
              <a:buFont typeface="Arial"/>
              <a:buChar char="•"/>
            </a:pPr>
            <a:r>
              <a:rPr lang="en-US" sz="2564">
                <a:solidFill>
                  <a:srgbClr val="344E41"/>
                </a:solidFill>
                <a:latin typeface="Prata"/>
                <a:ea typeface="Prata"/>
                <a:cs typeface="Prata"/>
                <a:sym typeface="Prata"/>
              </a:rPr>
              <a:t>Employee start dates</a:t>
            </a:r>
          </a:p>
          <a:p>
            <a:pPr marL="553603" lvl="1" indent="-276802" algn="l">
              <a:lnSpc>
                <a:spcPts val="3589"/>
              </a:lnSpc>
              <a:buFont typeface="Arial"/>
              <a:buChar char="•"/>
            </a:pPr>
            <a:r>
              <a:rPr lang="en-US" sz="2564">
                <a:solidFill>
                  <a:srgbClr val="344E41"/>
                </a:solidFill>
                <a:latin typeface="Prata"/>
                <a:ea typeface="Prata"/>
                <a:cs typeface="Prata"/>
                <a:sym typeface="Prata"/>
              </a:rPr>
              <a:t>Security clearance levels</a:t>
            </a:r>
          </a:p>
          <a:p>
            <a:pPr marL="553603" lvl="1" indent="-276802" algn="l">
              <a:lnSpc>
                <a:spcPts val="3589"/>
              </a:lnSpc>
              <a:buFont typeface="Arial"/>
              <a:buChar char="•"/>
            </a:pPr>
            <a:r>
              <a:rPr lang="en-US" sz="2564">
                <a:solidFill>
                  <a:srgbClr val="344E41"/>
                </a:solidFill>
                <a:latin typeface="Prata"/>
                <a:ea typeface="Prata"/>
                <a:cs typeface="Prata"/>
                <a:sym typeface="Prata"/>
              </a:rPr>
              <a:t>Real-time timestamped entry</a:t>
            </a:r>
          </a:p>
          <a:p>
            <a:pPr marL="553603" lvl="1" indent="-276802" algn="l">
              <a:lnSpc>
                <a:spcPts val="3589"/>
              </a:lnSpc>
              <a:buFont typeface="Arial"/>
              <a:buChar char="•"/>
            </a:pPr>
            <a:r>
              <a:rPr lang="en-US" sz="2564">
                <a:solidFill>
                  <a:srgbClr val="344E41"/>
                </a:solidFill>
                <a:latin typeface="Prata"/>
                <a:ea typeface="Prata"/>
                <a:cs typeface="Prata"/>
                <a:sym typeface="Prata"/>
              </a:rPr>
              <a:t>Exit logs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811662"/>
            <a:ext cx="18288000" cy="475338"/>
            <a:chOff x="0" y="0"/>
            <a:chExt cx="12372622" cy="321587"/>
          </a:xfrm>
        </p:grpSpPr>
        <p:sp>
          <p:nvSpPr>
            <p:cNvPr id="3" name="Freeform 3"/>
            <p:cNvSpPr/>
            <p:nvPr/>
          </p:nvSpPr>
          <p:spPr>
            <a:xfrm>
              <a:off x="0" y="0"/>
              <a:ext cx="12372622" cy="321587"/>
            </a:xfrm>
            <a:custGeom>
              <a:avLst/>
              <a:gdLst/>
              <a:ahLst/>
              <a:cxnLst/>
              <a:rect l="l" t="t" r="r" b="b"/>
              <a:pathLst>
                <a:path w="12372622" h="321587">
                  <a:moveTo>
                    <a:pt x="0" y="0"/>
                  </a:moveTo>
                  <a:lnTo>
                    <a:pt x="12372622" y="0"/>
                  </a:lnTo>
                  <a:lnTo>
                    <a:pt x="12372622" y="321587"/>
                  </a:lnTo>
                  <a:lnTo>
                    <a:pt x="0" y="321587"/>
                  </a:lnTo>
                  <a:close/>
                </a:path>
              </a:pathLst>
            </a:custGeom>
            <a:solidFill>
              <a:srgbClr val="A3B18A"/>
            </a:solidFill>
          </p:spPr>
        </p:sp>
      </p:grpSp>
      <p:sp>
        <p:nvSpPr>
          <p:cNvPr id="4" name="TextBox 4"/>
          <p:cNvSpPr txBox="1"/>
          <p:nvPr/>
        </p:nvSpPr>
        <p:spPr>
          <a:xfrm>
            <a:off x="1028700" y="734819"/>
            <a:ext cx="5704949" cy="497839"/>
          </a:xfrm>
          <a:prstGeom prst="rect">
            <a:avLst/>
          </a:prstGeom>
        </p:spPr>
        <p:txBody>
          <a:bodyPr lIns="0" tIns="0" rIns="0" bIns="0" rtlCol="0" anchor="t">
            <a:spAutoFit/>
          </a:bodyPr>
          <a:lstStyle/>
          <a:p>
            <a:pPr algn="l">
              <a:lnSpc>
                <a:spcPts val="4060"/>
              </a:lnSpc>
            </a:pPr>
            <a:r>
              <a:rPr lang="en-US" sz="2900">
                <a:solidFill>
                  <a:srgbClr val="344E41"/>
                </a:solidFill>
                <a:latin typeface="Prata"/>
                <a:ea typeface="Prata"/>
                <a:cs typeface="Prata"/>
                <a:sym typeface="Prata"/>
              </a:rPr>
              <a:t>IDENTIFICATION OF ASSETS</a:t>
            </a:r>
          </a:p>
        </p:txBody>
      </p:sp>
      <p:sp>
        <p:nvSpPr>
          <p:cNvPr id="5" name="TextBox 5"/>
          <p:cNvSpPr txBox="1"/>
          <p:nvPr/>
        </p:nvSpPr>
        <p:spPr>
          <a:xfrm>
            <a:off x="1028700" y="1451610"/>
            <a:ext cx="7770964" cy="7806690"/>
          </a:xfrm>
          <a:prstGeom prst="rect">
            <a:avLst/>
          </a:prstGeom>
        </p:spPr>
        <p:txBody>
          <a:bodyPr lIns="0" tIns="0" rIns="0" bIns="0" rtlCol="0" anchor="t">
            <a:spAutoFit/>
          </a:bodyPr>
          <a:lstStyle/>
          <a:p>
            <a:pPr algn="just">
              <a:lnSpc>
                <a:spcPts val="3149"/>
              </a:lnSpc>
            </a:pPr>
            <a:r>
              <a:rPr lang="en-US" sz="2099">
                <a:solidFill>
                  <a:srgbClr val="344E41"/>
                </a:solidFill>
                <a:latin typeface="Raleway"/>
                <a:ea typeface="Raleway"/>
                <a:cs typeface="Raleway"/>
                <a:sym typeface="Raleway"/>
              </a:rPr>
              <a:t>Hardware Assets: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Biometric Terminal Scanners:</a:t>
            </a:r>
            <a:r>
              <a:rPr lang="en-US" sz="2099">
                <a:solidFill>
                  <a:srgbClr val="344E41"/>
                </a:solidFill>
                <a:latin typeface="Raleway"/>
                <a:ea typeface="Raleway"/>
                <a:cs typeface="Raleway"/>
                <a:sym typeface="Raleway"/>
              </a:rPr>
              <a:t> Suprema BioLite 2 optical fingerprint scanners and FaceStation 2 facial recognition camera terminals installed at gym turnstiles and staff entrances.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On-Board Terminal Controllers &amp; Flash Memory:</a:t>
            </a:r>
            <a:r>
              <a:rPr lang="en-US" sz="2099">
                <a:solidFill>
                  <a:srgbClr val="344E41"/>
                </a:solidFill>
                <a:latin typeface="Raleway"/>
                <a:ea typeface="Raleway"/>
                <a:cs typeface="Raleway"/>
                <a:sym typeface="Raleway"/>
              </a:rPr>
              <a:t> Embedded processing units and local storage chips on reader devices used to capture biometric signals and store device configuration parameters.</a:t>
            </a:r>
          </a:p>
          <a:p>
            <a:pPr algn="just">
              <a:lnSpc>
                <a:spcPts val="3149"/>
              </a:lnSpc>
            </a:pPr>
            <a:endParaRPr lang="en-US" sz="2099">
              <a:solidFill>
                <a:srgbClr val="344E41"/>
              </a:solidFill>
              <a:latin typeface="Raleway"/>
              <a:ea typeface="Raleway"/>
              <a:cs typeface="Raleway"/>
              <a:sym typeface="Raleway"/>
            </a:endParaRPr>
          </a:p>
          <a:p>
            <a:pPr algn="just">
              <a:lnSpc>
                <a:spcPts val="3149"/>
              </a:lnSpc>
            </a:pPr>
            <a:r>
              <a:rPr lang="en-US" sz="2099">
                <a:solidFill>
                  <a:srgbClr val="344E41"/>
                </a:solidFill>
                <a:latin typeface="Raleway"/>
                <a:ea typeface="Raleway"/>
                <a:cs typeface="Raleway"/>
                <a:sym typeface="Raleway"/>
              </a:rPr>
              <a:t>Software Assets: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BioStar 2 Web Management Platform: </a:t>
            </a:r>
            <a:r>
              <a:rPr lang="en-US" sz="2099">
                <a:solidFill>
                  <a:srgbClr val="344E41"/>
                </a:solidFill>
                <a:latin typeface="Raleway"/>
                <a:ea typeface="Raleway"/>
                <a:cs typeface="Raleway"/>
                <a:sym typeface="Raleway"/>
              </a:rPr>
              <a:t>The core middleware application used by administrators to manage access control policies, user roles, and system settings.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Elasticsearch Database Engine: </a:t>
            </a:r>
            <a:r>
              <a:rPr lang="en-US" sz="2099">
                <a:solidFill>
                  <a:srgbClr val="344E41"/>
                </a:solidFill>
                <a:latin typeface="Raleway"/>
                <a:ea typeface="Raleway"/>
                <a:cs typeface="Raleway"/>
                <a:sym typeface="Raleway"/>
              </a:rPr>
              <a:t>The database management software hosting user logs, biometric records, and system data.</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Web Application Server Interfaces: </a:t>
            </a:r>
            <a:r>
              <a:rPr lang="en-US" sz="2099">
                <a:solidFill>
                  <a:srgbClr val="344E41"/>
                </a:solidFill>
                <a:latin typeface="Raleway"/>
                <a:ea typeface="Raleway"/>
                <a:cs typeface="Raleway"/>
                <a:sym typeface="Raleway"/>
              </a:rPr>
              <a:t>Web application endpoints and API services used for browser access and system integration.</a:t>
            </a:r>
          </a:p>
        </p:txBody>
      </p:sp>
      <p:sp>
        <p:nvSpPr>
          <p:cNvPr id="6" name="TextBox 6"/>
          <p:cNvSpPr txBox="1"/>
          <p:nvPr/>
        </p:nvSpPr>
        <p:spPr>
          <a:xfrm>
            <a:off x="9488336" y="1451610"/>
            <a:ext cx="7770964" cy="8197215"/>
          </a:xfrm>
          <a:prstGeom prst="rect">
            <a:avLst/>
          </a:prstGeom>
        </p:spPr>
        <p:txBody>
          <a:bodyPr lIns="0" tIns="0" rIns="0" bIns="0" rtlCol="0" anchor="t">
            <a:spAutoFit/>
          </a:bodyPr>
          <a:lstStyle/>
          <a:p>
            <a:pPr algn="just">
              <a:lnSpc>
                <a:spcPts val="3149"/>
              </a:lnSpc>
            </a:pPr>
            <a:r>
              <a:rPr lang="en-US" sz="2099">
                <a:solidFill>
                  <a:srgbClr val="344E41"/>
                </a:solidFill>
                <a:latin typeface="Raleway"/>
                <a:ea typeface="Raleway"/>
                <a:cs typeface="Raleway"/>
                <a:sym typeface="Raleway"/>
              </a:rPr>
              <a:t>Information Assets: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Biometric Templates: </a:t>
            </a:r>
            <a:r>
              <a:rPr lang="en-US" sz="2099">
                <a:solidFill>
                  <a:srgbClr val="344E41"/>
                </a:solidFill>
                <a:latin typeface="Raleway"/>
                <a:ea typeface="Raleway"/>
                <a:cs typeface="Raleway"/>
                <a:sym typeface="Raleway"/>
              </a:rPr>
              <a:t>Raw binary fingerprint feature data and facial recognition feature vectors.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Personally Identifiable Information:</a:t>
            </a:r>
            <a:r>
              <a:rPr lang="en-US" sz="2099">
                <a:solidFill>
                  <a:srgbClr val="344E41"/>
                </a:solidFill>
                <a:latin typeface="Raleway"/>
                <a:ea typeface="Raleway"/>
                <a:cs typeface="Raleway"/>
                <a:sym typeface="Raleway"/>
              </a:rPr>
              <a:t> User records containing full names, email addresses, phone numbers, home addresses, and employee ID numbers.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Administrative Credentials:</a:t>
            </a:r>
            <a:r>
              <a:rPr lang="en-US" sz="2099">
                <a:solidFill>
                  <a:srgbClr val="344E41"/>
                </a:solidFill>
                <a:latin typeface="Raleway"/>
                <a:ea typeface="Raleway"/>
                <a:cs typeface="Raleway"/>
                <a:sym typeface="Raleway"/>
              </a:rPr>
              <a:t> System administrator usernames, plain-text login passwords, and API session tokens. </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Attendance &amp; Access Logs:</a:t>
            </a:r>
            <a:r>
              <a:rPr lang="en-US" sz="2099">
                <a:solidFill>
                  <a:srgbClr val="344E41"/>
                </a:solidFill>
                <a:latin typeface="Raleway"/>
                <a:ea typeface="Raleway"/>
                <a:cs typeface="Raleway"/>
                <a:sym typeface="Raleway"/>
              </a:rPr>
              <a:t> Real-time timestamped check-in/check-out history tracking the movement of employees and members.</a:t>
            </a:r>
          </a:p>
          <a:p>
            <a:pPr algn="l">
              <a:lnSpc>
                <a:spcPts val="3149"/>
              </a:lnSpc>
            </a:pPr>
            <a:endParaRPr lang="en-US" sz="2099">
              <a:solidFill>
                <a:srgbClr val="344E41"/>
              </a:solidFill>
              <a:latin typeface="Raleway"/>
              <a:ea typeface="Raleway"/>
              <a:cs typeface="Raleway"/>
              <a:sym typeface="Raleway"/>
            </a:endParaRPr>
          </a:p>
          <a:p>
            <a:pPr algn="l">
              <a:lnSpc>
                <a:spcPts val="3149"/>
              </a:lnSpc>
            </a:pPr>
            <a:r>
              <a:rPr lang="en-US" sz="2099">
                <a:solidFill>
                  <a:srgbClr val="344E41"/>
                </a:solidFill>
                <a:latin typeface="Raleway"/>
                <a:ea typeface="Raleway"/>
                <a:cs typeface="Raleway"/>
                <a:sym typeface="Raleway"/>
              </a:rPr>
              <a:t>Service Assets: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Automated Time &amp; Attendance (T&amp;A) Services: </a:t>
            </a:r>
            <a:r>
              <a:rPr lang="en-US" sz="2099">
                <a:solidFill>
                  <a:srgbClr val="344E41"/>
                </a:solidFill>
                <a:latin typeface="Raleway"/>
                <a:ea typeface="Raleway"/>
                <a:cs typeface="Raleway"/>
                <a:sym typeface="Raleway"/>
              </a:rPr>
              <a:t>Automated tracking of staff working hours, shifts, and timekeeping for payroll calculation.</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Physical Access Control Services:</a:t>
            </a:r>
            <a:r>
              <a:rPr lang="en-US" sz="2099">
                <a:solidFill>
                  <a:srgbClr val="344E41"/>
                </a:solidFill>
                <a:latin typeface="Raleway"/>
                <a:ea typeface="Raleway"/>
                <a:cs typeface="Raleway"/>
                <a:sym typeface="Raleway"/>
              </a:rPr>
              <a:t> Door unlocking and turnstile permission checks for authorized personnel and members.</a:t>
            </a:r>
          </a:p>
          <a:p>
            <a:pPr algn="l">
              <a:lnSpc>
                <a:spcPts val="3149"/>
              </a:lnSpc>
            </a:pPr>
            <a:endParaRPr lang="en-US" sz="2099">
              <a:solidFill>
                <a:srgbClr val="344E41"/>
              </a:solidFill>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811662"/>
            <a:ext cx="18288000" cy="475338"/>
            <a:chOff x="0" y="0"/>
            <a:chExt cx="12372622" cy="321587"/>
          </a:xfrm>
        </p:grpSpPr>
        <p:sp>
          <p:nvSpPr>
            <p:cNvPr id="3" name="Freeform 3"/>
            <p:cNvSpPr/>
            <p:nvPr/>
          </p:nvSpPr>
          <p:spPr>
            <a:xfrm>
              <a:off x="0" y="0"/>
              <a:ext cx="12372622" cy="321587"/>
            </a:xfrm>
            <a:custGeom>
              <a:avLst/>
              <a:gdLst/>
              <a:ahLst/>
              <a:cxnLst/>
              <a:rect l="l" t="t" r="r" b="b"/>
              <a:pathLst>
                <a:path w="12372622" h="321587">
                  <a:moveTo>
                    <a:pt x="0" y="0"/>
                  </a:moveTo>
                  <a:lnTo>
                    <a:pt x="12372622" y="0"/>
                  </a:lnTo>
                  <a:lnTo>
                    <a:pt x="12372622" y="321587"/>
                  </a:lnTo>
                  <a:lnTo>
                    <a:pt x="0" y="321587"/>
                  </a:lnTo>
                  <a:close/>
                </a:path>
              </a:pathLst>
            </a:custGeom>
            <a:solidFill>
              <a:srgbClr val="A3B18A"/>
            </a:solidFill>
          </p:spPr>
        </p:sp>
      </p:grpSp>
      <p:sp>
        <p:nvSpPr>
          <p:cNvPr id="4" name="TextBox 4"/>
          <p:cNvSpPr txBox="1"/>
          <p:nvPr/>
        </p:nvSpPr>
        <p:spPr>
          <a:xfrm>
            <a:off x="1028700" y="1436371"/>
            <a:ext cx="5561290" cy="365758"/>
          </a:xfrm>
          <a:prstGeom prst="rect">
            <a:avLst/>
          </a:prstGeom>
        </p:spPr>
        <p:txBody>
          <a:bodyPr lIns="0" tIns="0" rIns="0" bIns="0" rtlCol="0" anchor="t">
            <a:spAutoFit/>
          </a:bodyPr>
          <a:lstStyle/>
          <a:p>
            <a:pPr algn="l">
              <a:lnSpc>
                <a:spcPts val="2940"/>
              </a:lnSpc>
            </a:pPr>
            <a:r>
              <a:rPr lang="en-US" sz="2100">
                <a:solidFill>
                  <a:srgbClr val="344E41"/>
                </a:solidFill>
                <a:latin typeface="Prata"/>
                <a:ea typeface="Prata"/>
                <a:cs typeface="Prata"/>
                <a:sym typeface="Prata"/>
              </a:rPr>
              <a:t>HARDWARE VULNERABILITY ANALYSIS</a:t>
            </a:r>
          </a:p>
        </p:txBody>
      </p:sp>
      <p:sp>
        <p:nvSpPr>
          <p:cNvPr id="5" name="TextBox 5"/>
          <p:cNvSpPr txBox="1"/>
          <p:nvPr/>
        </p:nvSpPr>
        <p:spPr>
          <a:xfrm>
            <a:off x="1028700" y="1725929"/>
            <a:ext cx="16230600" cy="1167765"/>
          </a:xfrm>
          <a:prstGeom prst="rect">
            <a:avLst/>
          </a:prstGeom>
        </p:spPr>
        <p:txBody>
          <a:bodyPr lIns="0" tIns="0" rIns="0" bIns="0" rtlCol="0" anchor="t">
            <a:spAutoFit/>
          </a:bodyPr>
          <a:lstStyle/>
          <a:p>
            <a:pPr algn="just">
              <a:lnSpc>
                <a:spcPts val="3149"/>
              </a:lnSpc>
            </a:pPr>
            <a:r>
              <a:rPr lang="en-US" sz="2099" b="1">
                <a:solidFill>
                  <a:srgbClr val="344E41"/>
                </a:solidFill>
                <a:latin typeface="Raleway Bold"/>
                <a:ea typeface="Raleway Bold"/>
                <a:cs typeface="Raleway Bold"/>
                <a:sym typeface="Raleway Bold"/>
              </a:rPr>
              <a:t>Lack of On-Device Biometric Encryption: </a:t>
            </a:r>
            <a:r>
              <a:rPr lang="en-US" sz="2099">
                <a:solidFill>
                  <a:srgbClr val="344E41"/>
                </a:solidFill>
                <a:latin typeface="Raleway"/>
                <a:ea typeface="Raleway"/>
                <a:cs typeface="Raleway"/>
                <a:sym typeface="Raleway"/>
              </a:rPr>
              <a:t>The scanner hardware processed biometric inputs without applying any irreversible cryptographic protection on the device before transmission. As a result, fingerprint and facial data left the terminals in unhashed, raw formats.</a:t>
            </a:r>
          </a:p>
        </p:txBody>
      </p:sp>
      <p:sp>
        <p:nvSpPr>
          <p:cNvPr id="6" name="TextBox 6"/>
          <p:cNvSpPr txBox="1"/>
          <p:nvPr/>
        </p:nvSpPr>
        <p:spPr>
          <a:xfrm>
            <a:off x="1028700" y="3348990"/>
            <a:ext cx="5490567" cy="365758"/>
          </a:xfrm>
          <a:prstGeom prst="rect">
            <a:avLst/>
          </a:prstGeom>
        </p:spPr>
        <p:txBody>
          <a:bodyPr lIns="0" tIns="0" rIns="0" bIns="0" rtlCol="0" anchor="t">
            <a:spAutoFit/>
          </a:bodyPr>
          <a:lstStyle/>
          <a:p>
            <a:pPr algn="l">
              <a:lnSpc>
                <a:spcPts val="2940"/>
              </a:lnSpc>
            </a:pPr>
            <a:r>
              <a:rPr lang="en-US" sz="2100">
                <a:solidFill>
                  <a:srgbClr val="344E41"/>
                </a:solidFill>
                <a:latin typeface="Prata"/>
                <a:ea typeface="Prata"/>
                <a:cs typeface="Prata"/>
                <a:sym typeface="Prata"/>
              </a:rPr>
              <a:t>SOFTWARE VULNERABILITY ANALYSIS</a:t>
            </a:r>
          </a:p>
        </p:txBody>
      </p:sp>
      <p:sp>
        <p:nvSpPr>
          <p:cNvPr id="7" name="TextBox 7"/>
          <p:cNvSpPr txBox="1"/>
          <p:nvPr/>
        </p:nvSpPr>
        <p:spPr>
          <a:xfrm>
            <a:off x="1028700" y="3638549"/>
            <a:ext cx="16230600" cy="4291965"/>
          </a:xfrm>
          <a:prstGeom prst="rect">
            <a:avLst/>
          </a:prstGeom>
        </p:spPr>
        <p:txBody>
          <a:bodyPr lIns="0" tIns="0" rIns="0" bIns="0" rtlCol="0" anchor="t">
            <a:spAutoFit/>
          </a:bodyPr>
          <a:lstStyle/>
          <a:p>
            <a:pPr algn="just">
              <a:lnSpc>
                <a:spcPts val="3149"/>
              </a:lnSpc>
            </a:pPr>
            <a:r>
              <a:rPr lang="en-US" sz="2099" b="1">
                <a:solidFill>
                  <a:srgbClr val="344E41"/>
                </a:solidFill>
                <a:latin typeface="Raleway Bold"/>
                <a:ea typeface="Raleway Bold"/>
                <a:cs typeface="Raleway Bold"/>
                <a:sym typeface="Raleway Bold"/>
              </a:rPr>
              <a:t>Unencrypted Biometric Data Storage:</a:t>
            </a:r>
            <a:r>
              <a:rPr lang="en-US" sz="2099">
                <a:solidFill>
                  <a:srgbClr val="344E41"/>
                </a:solidFill>
                <a:latin typeface="Raleway"/>
                <a:ea typeface="Raleway"/>
                <a:cs typeface="Raleway"/>
                <a:sym typeface="Raleway"/>
              </a:rPr>
              <a:t> The BioStar 2 database stored fingerprint and facial recognition data in plain, unencrypted formats instead of irreversible cryptographic ones, leaving biometric identity markers exposed if the database was accessed.</a:t>
            </a:r>
          </a:p>
          <a:p>
            <a:pPr algn="just">
              <a:lnSpc>
                <a:spcPts val="3149"/>
              </a:lnSpc>
            </a:pPr>
            <a:r>
              <a:rPr lang="en-US" sz="2099" b="1">
                <a:solidFill>
                  <a:srgbClr val="344E41"/>
                </a:solidFill>
                <a:latin typeface="Raleway Bold"/>
                <a:ea typeface="Raleway Bold"/>
                <a:cs typeface="Raleway Bold"/>
                <a:sym typeface="Raleway Bold"/>
              </a:rPr>
              <a:t>Unauthenticated Central Database Access:</a:t>
            </a:r>
            <a:r>
              <a:rPr lang="en-US" sz="2099">
                <a:solidFill>
                  <a:srgbClr val="344E41"/>
                </a:solidFill>
                <a:latin typeface="Raleway"/>
                <a:ea typeface="Raleway"/>
                <a:cs typeface="Raleway"/>
                <a:sym typeface="Raleway"/>
              </a:rPr>
              <a:t> The backend database was deployed with no login authentication or password requirements and left directly reachable over the public internet, allowing anyone with the server link to view system files without any credentials.</a:t>
            </a:r>
          </a:p>
          <a:p>
            <a:pPr algn="just">
              <a:lnSpc>
                <a:spcPts val="3149"/>
              </a:lnSpc>
            </a:pPr>
            <a:r>
              <a:rPr lang="en-US" sz="2099" b="1">
                <a:solidFill>
                  <a:srgbClr val="344E41"/>
                </a:solidFill>
                <a:latin typeface="Raleway Bold"/>
                <a:ea typeface="Raleway Bold"/>
                <a:cs typeface="Raleway Bold"/>
                <a:sym typeface="Raleway Bold"/>
              </a:rPr>
              <a:t>Weak Input Validation on User Credentials:</a:t>
            </a:r>
            <a:r>
              <a:rPr lang="en-US" sz="2099">
                <a:solidFill>
                  <a:srgbClr val="344E41"/>
                </a:solidFill>
                <a:latin typeface="Raleway"/>
                <a:ea typeface="Raleway"/>
                <a:cs typeface="Raleway"/>
                <a:sym typeface="Raleway"/>
              </a:rPr>
              <a:t> The web application lacked input validation on registration, allowing accounts with ridiculously simple passwords like "Password" and "abcd1234." Since these were stored as plain text instead of being hashed, an unauthenticated user could read them directly and use them to access accounts.</a:t>
            </a:r>
          </a:p>
          <a:p>
            <a:pPr algn="just">
              <a:lnSpc>
                <a:spcPts val="3149"/>
              </a:lnSpc>
            </a:pPr>
            <a:r>
              <a:rPr lang="en-US" sz="2099" b="1">
                <a:solidFill>
                  <a:srgbClr val="344E41"/>
                </a:solidFill>
                <a:latin typeface="Raleway Bold"/>
                <a:ea typeface="Raleway Bold"/>
                <a:cs typeface="Raleway Bold"/>
                <a:sym typeface="Raleway Bold"/>
              </a:rPr>
              <a:t>Plain-Text Administrative Credentials:</a:t>
            </a:r>
            <a:r>
              <a:rPr lang="en-US" sz="2099">
                <a:solidFill>
                  <a:srgbClr val="344E41"/>
                </a:solidFill>
                <a:latin typeface="Raleway"/>
                <a:ea typeface="Raleway"/>
                <a:cs typeface="Raleway"/>
                <a:sym typeface="Raleway"/>
              </a:rPr>
              <a:t> The system software stored administrative account passwords and user login credentials in clear plain text rather than using secure password hashing techniques. This allowed exposed user accounts and administrative credentials to be read directly from the backend data tables.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811662"/>
            <a:ext cx="18288000" cy="475338"/>
            <a:chOff x="0" y="0"/>
            <a:chExt cx="12372622" cy="321587"/>
          </a:xfrm>
        </p:grpSpPr>
        <p:sp>
          <p:nvSpPr>
            <p:cNvPr id="3" name="Freeform 3"/>
            <p:cNvSpPr/>
            <p:nvPr/>
          </p:nvSpPr>
          <p:spPr>
            <a:xfrm>
              <a:off x="0" y="0"/>
              <a:ext cx="12372622" cy="321587"/>
            </a:xfrm>
            <a:custGeom>
              <a:avLst/>
              <a:gdLst/>
              <a:ahLst/>
              <a:cxnLst/>
              <a:rect l="l" t="t" r="r" b="b"/>
              <a:pathLst>
                <a:path w="12372622" h="321587">
                  <a:moveTo>
                    <a:pt x="0" y="0"/>
                  </a:moveTo>
                  <a:lnTo>
                    <a:pt x="12372622" y="0"/>
                  </a:lnTo>
                  <a:lnTo>
                    <a:pt x="12372622" y="321587"/>
                  </a:lnTo>
                  <a:lnTo>
                    <a:pt x="0" y="321587"/>
                  </a:lnTo>
                  <a:close/>
                </a:path>
              </a:pathLst>
            </a:custGeom>
            <a:solidFill>
              <a:srgbClr val="A3B18A"/>
            </a:solidFill>
          </p:spPr>
        </p:sp>
      </p:grpSp>
      <p:sp>
        <p:nvSpPr>
          <p:cNvPr id="4" name="TextBox 4"/>
          <p:cNvSpPr txBox="1"/>
          <p:nvPr/>
        </p:nvSpPr>
        <p:spPr>
          <a:xfrm>
            <a:off x="1028700" y="507366"/>
            <a:ext cx="4453229" cy="521334"/>
          </a:xfrm>
          <a:prstGeom prst="rect">
            <a:avLst/>
          </a:prstGeom>
        </p:spPr>
        <p:txBody>
          <a:bodyPr lIns="0" tIns="0" rIns="0" bIns="0" rtlCol="0" anchor="t">
            <a:spAutoFit/>
          </a:bodyPr>
          <a:lstStyle/>
          <a:p>
            <a:pPr algn="l">
              <a:lnSpc>
                <a:spcPts val="4340"/>
              </a:lnSpc>
            </a:pPr>
            <a:r>
              <a:rPr lang="en-US" sz="3100">
                <a:solidFill>
                  <a:srgbClr val="344E41"/>
                </a:solidFill>
                <a:latin typeface="Prata"/>
                <a:ea typeface="Prata"/>
                <a:cs typeface="Prata"/>
                <a:sym typeface="Prata"/>
              </a:rPr>
              <a:t>CIA TRIAD ANALYSIS</a:t>
            </a:r>
          </a:p>
        </p:txBody>
      </p:sp>
      <p:sp>
        <p:nvSpPr>
          <p:cNvPr id="5" name="TextBox 5"/>
          <p:cNvSpPr txBox="1"/>
          <p:nvPr/>
        </p:nvSpPr>
        <p:spPr>
          <a:xfrm>
            <a:off x="1028700" y="1467802"/>
            <a:ext cx="16230600" cy="7275195"/>
          </a:xfrm>
          <a:prstGeom prst="rect">
            <a:avLst/>
          </a:prstGeom>
        </p:spPr>
        <p:txBody>
          <a:bodyPr lIns="0" tIns="0" rIns="0" bIns="0" rtlCol="0" anchor="t">
            <a:spAutoFit/>
          </a:bodyPr>
          <a:lstStyle/>
          <a:p>
            <a:pPr algn="just">
              <a:lnSpc>
                <a:spcPts val="3449"/>
              </a:lnSpc>
            </a:pPr>
            <a:r>
              <a:rPr lang="en-US" sz="2299" b="1">
                <a:solidFill>
                  <a:srgbClr val="344E41"/>
                </a:solidFill>
                <a:latin typeface="Raleway Bold"/>
                <a:ea typeface="Raleway Bold"/>
                <a:cs typeface="Raleway Bold"/>
                <a:sym typeface="Raleway Bold"/>
              </a:rPr>
              <a:t>Confidentiality: CRITICAL IMPACT</a:t>
            </a:r>
          </a:p>
          <a:p>
            <a:pPr marL="496567" lvl="1" indent="-248284" algn="just">
              <a:lnSpc>
                <a:spcPts val="3449"/>
              </a:lnSpc>
              <a:buFont typeface="Arial"/>
              <a:buChar char="•"/>
            </a:pPr>
            <a:r>
              <a:rPr lang="en-US" sz="2299">
                <a:solidFill>
                  <a:srgbClr val="344E41"/>
                </a:solidFill>
                <a:latin typeface="Raleway"/>
                <a:ea typeface="Raleway"/>
                <a:cs typeface="Raleway"/>
                <a:sym typeface="Raleway"/>
              </a:rPr>
              <a:t>Unauthorized parties accessed and extracted unencrypted user data</a:t>
            </a:r>
          </a:p>
          <a:p>
            <a:pPr marL="496567" lvl="1" indent="-248284" algn="just">
              <a:lnSpc>
                <a:spcPts val="3449"/>
              </a:lnSpc>
              <a:buFont typeface="Arial"/>
              <a:buChar char="•"/>
            </a:pPr>
            <a:r>
              <a:rPr lang="en-US" sz="2299">
                <a:solidFill>
                  <a:srgbClr val="344E41"/>
                </a:solidFill>
                <a:latin typeface="Raleway"/>
                <a:ea typeface="Raleway"/>
                <a:cs typeface="Raleway"/>
                <a:sym typeface="Raleway"/>
              </a:rPr>
              <a:t>Leaked: raw fingerprints, facial recognition maps, plain-text admin credentials, home addresses, emails, and entry/exit logs</a:t>
            </a:r>
          </a:p>
          <a:p>
            <a:pPr marL="496567" lvl="1" indent="-248284" algn="just">
              <a:lnSpc>
                <a:spcPts val="3449"/>
              </a:lnSpc>
              <a:buFont typeface="Arial"/>
              <a:buChar char="•"/>
            </a:pPr>
            <a:r>
              <a:rPr lang="en-US" sz="2299">
                <a:solidFill>
                  <a:srgbClr val="344E41"/>
                </a:solidFill>
                <a:latin typeface="Raleway"/>
                <a:ea typeface="Raleway"/>
                <a:cs typeface="Raleway"/>
                <a:sym typeface="Raleway"/>
              </a:rPr>
              <a:t>Biometric traits are permanent and cannot be reset, making the breach severe and irreversible</a:t>
            </a:r>
          </a:p>
          <a:p>
            <a:pPr algn="just">
              <a:lnSpc>
                <a:spcPts val="3449"/>
              </a:lnSpc>
            </a:pPr>
            <a:endParaRPr lang="en-US" sz="2299">
              <a:solidFill>
                <a:srgbClr val="344E41"/>
              </a:solidFill>
              <a:latin typeface="Raleway"/>
              <a:ea typeface="Raleway"/>
              <a:cs typeface="Raleway"/>
              <a:sym typeface="Raleway"/>
            </a:endParaRPr>
          </a:p>
          <a:p>
            <a:pPr algn="just">
              <a:lnSpc>
                <a:spcPts val="3449"/>
              </a:lnSpc>
            </a:pPr>
            <a:r>
              <a:rPr lang="en-US" sz="2299" b="1">
                <a:solidFill>
                  <a:srgbClr val="344E41"/>
                </a:solidFill>
                <a:latin typeface="Raleway Bold"/>
                <a:ea typeface="Raleway Bold"/>
                <a:cs typeface="Raleway Bold"/>
                <a:sym typeface="Raleway Bold"/>
              </a:rPr>
              <a:t>Integrity: CRITICAL IMPACT</a:t>
            </a:r>
          </a:p>
          <a:p>
            <a:pPr marL="496567" lvl="1" indent="-248284" algn="just">
              <a:lnSpc>
                <a:spcPts val="3449"/>
              </a:lnSpc>
              <a:buFont typeface="Arial"/>
              <a:buChar char="•"/>
            </a:pPr>
            <a:r>
              <a:rPr lang="en-US" sz="2299">
                <a:solidFill>
                  <a:srgbClr val="344E41"/>
                </a:solidFill>
                <a:latin typeface="Raleway"/>
                <a:ea typeface="Raleway"/>
                <a:cs typeface="Raleway"/>
                <a:sym typeface="Raleway"/>
              </a:rPr>
              <a:t>No authentication or access controls allowed unauthenticated users to modify database contents</a:t>
            </a:r>
          </a:p>
          <a:p>
            <a:pPr marL="496567" lvl="1" indent="-248284" algn="just">
              <a:lnSpc>
                <a:spcPts val="3449"/>
              </a:lnSpc>
              <a:buFont typeface="Arial"/>
              <a:buChar char="•"/>
            </a:pPr>
            <a:r>
              <a:rPr lang="en-US" sz="2299">
                <a:solidFill>
                  <a:srgbClr val="344E41"/>
                </a:solidFill>
                <a:latin typeface="Raleway"/>
                <a:ea typeface="Raleway"/>
                <a:cs typeface="Raleway"/>
                <a:sym typeface="Raleway"/>
              </a:rPr>
              <a:t>Attackers could alter configurations, replace biometric templates, and forge security clearance levels</a:t>
            </a:r>
          </a:p>
          <a:p>
            <a:pPr marL="496567" lvl="1" indent="-248284" algn="just">
              <a:lnSpc>
                <a:spcPts val="3449"/>
              </a:lnSpc>
              <a:buFont typeface="Arial"/>
              <a:buChar char="•"/>
            </a:pPr>
            <a:r>
              <a:rPr lang="en-US" sz="2299">
                <a:solidFill>
                  <a:srgbClr val="344E41"/>
                </a:solidFill>
                <a:latin typeface="Raleway"/>
                <a:ea typeface="Raleway"/>
                <a:cs typeface="Raleway"/>
                <a:sym typeface="Raleway"/>
              </a:rPr>
              <a:t>Forged biometrics bypassed physical door and turnstile controls, while audit trails could be erased to hide actions</a:t>
            </a:r>
          </a:p>
          <a:p>
            <a:pPr algn="just">
              <a:lnSpc>
                <a:spcPts val="3449"/>
              </a:lnSpc>
            </a:pPr>
            <a:endParaRPr lang="en-US" sz="2299">
              <a:solidFill>
                <a:srgbClr val="344E41"/>
              </a:solidFill>
              <a:latin typeface="Raleway"/>
              <a:ea typeface="Raleway"/>
              <a:cs typeface="Raleway"/>
              <a:sym typeface="Raleway"/>
            </a:endParaRPr>
          </a:p>
          <a:p>
            <a:pPr algn="just">
              <a:lnSpc>
                <a:spcPts val="3449"/>
              </a:lnSpc>
            </a:pPr>
            <a:r>
              <a:rPr lang="en-US" sz="2299" b="1">
                <a:solidFill>
                  <a:srgbClr val="344E41"/>
                </a:solidFill>
                <a:latin typeface="Raleway Bold"/>
                <a:ea typeface="Raleway Bold"/>
                <a:cs typeface="Raleway Bold"/>
                <a:sym typeface="Raleway Bold"/>
              </a:rPr>
              <a:t>Availability: HIGH IMPACT </a:t>
            </a:r>
          </a:p>
          <a:p>
            <a:pPr marL="496567" lvl="1" indent="-248284" algn="just">
              <a:lnSpc>
                <a:spcPts val="3449"/>
              </a:lnSpc>
              <a:buFont typeface="Arial"/>
              <a:buChar char="•"/>
            </a:pPr>
            <a:r>
              <a:rPr lang="en-US" sz="2299">
                <a:solidFill>
                  <a:srgbClr val="344E41"/>
                </a:solidFill>
                <a:latin typeface="Raleway"/>
                <a:ea typeface="Raleway"/>
                <a:cs typeface="Raleway"/>
                <a:sym typeface="Raleway"/>
              </a:rPr>
              <a:t>Unrestricted backend access allowed unauthorized users to run administrative database commands</a:t>
            </a:r>
          </a:p>
          <a:p>
            <a:pPr marL="496567" lvl="1" indent="-248284" algn="just">
              <a:lnSpc>
                <a:spcPts val="3449"/>
              </a:lnSpc>
              <a:buFont typeface="Arial"/>
              <a:buChar char="•"/>
            </a:pPr>
            <a:r>
              <a:rPr lang="en-US" sz="2299">
                <a:solidFill>
                  <a:srgbClr val="344E41"/>
                </a:solidFill>
                <a:latin typeface="Raleway"/>
                <a:ea typeface="Raleway"/>
                <a:cs typeface="Raleway"/>
                <a:sym typeface="Raleway"/>
              </a:rPr>
              <a:t>Attackers could alter, corrupt, or wipe tables holding attendance logs and user permissions</a:t>
            </a:r>
          </a:p>
          <a:p>
            <a:pPr marL="496567" lvl="1" indent="-248284" algn="just">
              <a:lnSpc>
                <a:spcPts val="3449"/>
              </a:lnSpc>
              <a:buFont typeface="Arial"/>
              <a:buChar char="•"/>
            </a:pPr>
            <a:r>
              <a:rPr lang="en-US" sz="2299">
                <a:solidFill>
                  <a:srgbClr val="344E41"/>
                </a:solidFill>
                <a:latin typeface="Raleway"/>
                <a:ea typeface="Raleway"/>
                <a:cs typeface="Raleway"/>
                <a:sym typeface="Raleway"/>
              </a:rPr>
              <a:t>This would cause system outages across gym locations, disrupting member access verification and staff attendance tracking</a:t>
            </a:r>
          </a:p>
          <a:p>
            <a:pPr algn="just">
              <a:lnSpc>
                <a:spcPts val="3449"/>
              </a:lnSpc>
            </a:pPr>
            <a:endParaRPr lang="en-US" sz="2299">
              <a:solidFill>
                <a:srgbClr val="344E41"/>
              </a:solidFill>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811662"/>
            <a:ext cx="18288000" cy="475338"/>
            <a:chOff x="0" y="0"/>
            <a:chExt cx="12372622" cy="321587"/>
          </a:xfrm>
        </p:grpSpPr>
        <p:sp>
          <p:nvSpPr>
            <p:cNvPr id="3" name="Freeform 3"/>
            <p:cNvSpPr/>
            <p:nvPr/>
          </p:nvSpPr>
          <p:spPr>
            <a:xfrm>
              <a:off x="0" y="0"/>
              <a:ext cx="12372622" cy="321587"/>
            </a:xfrm>
            <a:custGeom>
              <a:avLst/>
              <a:gdLst/>
              <a:ahLst/>
              <a:cxnLst/>
              <a:rect l="l" t="t" r="r" b="b"/>
              <a:pathLst>
                <a:path w="12372622" h="321587">
                  <a:moveTo>
                    <a:pt x="0" y="0"/>
                  </a:moveTo>
                  <a:lnTo>
                    <a:pt x="12372622" y="0"/>
                  </a:lnTo>
                  <a:lnTo>
                    <a:pt x="12372622" y="321587"/>
                  </a:lnTo>
                  <a:lnTo>
                    <a:pt x="0" y="321587"/>
                  </a:lnTo>
                  <a:close/>
                </a:path>
              </a:pathLst>
            </a:custGeom>
            <a:solidFill>
              <a:srgbClr val="A3B18A"/>
            </a:solidFill>
          </p:spPr>
        </p:sp>
      </p:grpSp>
      <p:sp>
        <p:nvSpPr>
          <p:cNvPr id="5" name="TextBox 5"/>
          <p:cNvSpPr txBox="1"/>
          <p:nvPr/>
        </p:nvSpPr>
        <p:spPr>
          <a:xfrm>
            <a:off x="1028700" y="641350"/>
            <a:ext cx="5184943" cy="688974"/>
          </a:xfrm>
          <a:prstGeom prst="rect">
            <a:avLst/>
          </a:prstGeom>
        </p:spPr>
        <p:txBody>
          <a:bodyPr lIns="0" tIns="0" rIns="0" bIns="0" rtlCol="0" anchor="t">
            <a:spAutoFit/>
          </a:bodyPr>
          <a:lstStyle/>
          <a:p>
            <a:pPr algn="l">
              <a:lnSpc>
                <a:spcPts val="5600"/>
              </a:lnSpc>
            </a:pPr>
            <a:r>
              <a:rPr lang="en-US" sz="4000">
                <a:solidFill>
                  <a:srgbClr val="344E41"/>
                </a:solidFill>
                <a:latin typeface="Prata"/>
                <a:ea typeface="Prata"/>
                <a:cs typeface="Prata"/>
                <a:sym typeface="Prata"/>
              </a:rPr>
              <a:t>RISK ASSESSMENT</a:t>
            </a:r>
          </a:p>
        </p:txBody>
      </p:sp>
      <p:pic>
        <p:nvPicPr>
          <p:cNvPr id="7" name="Picture 6">
            <a:extLst>
              <a:ext uri="{FF2B5EF4-FFF2-40B4-BE49-F238E27FC236}">
                <a16:creationId xmlns:a16="http://schemas.microsoft.com/office/drawing/2014/main" id="{AC601A70-FD90-4D0E-8265-F30ED0B865B4}"/>
              </a:ext>
            </a:extLst>
          </p:cNvPr>
          <p:cNvPicPr>
            <a:picLocks noChangeAspect="1"/>
          </p:cNvPicPr>
          <p:nvPr/>
        </p:nvPicPr>
        <p:blipFill>
          <a:blip r:embed="rId2"/>
          <a:stretch>
            <a:fillRect/>
          </a:stretch>
        </p:blipFill>
        <p:spPr>
          <a:xfrm>
            <a:off x="2104042" y="1542547"/>
            <a:ext cx="14079915" cy="72019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811662"/>
            <a:ext cx="18288000" cy="475338"/>
            <a:chOff x="0" y="0"/>
            <a:chExt cx="12372622" cy="321587"/>
          </a:xfrm>
        </p:grpSpPr>
        <p:sp>
          <p:nvSpPr>
            <p:cNvPr id="3" name="Freeform 3"/>
            <p:cNvSpPr/>
            <p:nvPr/>
          </p:nvSpPr>
          <p:spPr>
            <a:xfrm>
              <a:off x="0" y="0"/>
              <a:ext cx="12372622" cy="321587"/>
            </a:xfrm>
            <a:custGeom>
              <a:avLst/>
              <a:gdLst/>
              <a:ahLst/>
              <a:cxnLst/>
              <a:rect l="l" t="t" r="r" b="b"/>
              <a:pathLst>
                <a:path w="12372622" h="321587">
                  <a:moveTo>
                    <a:pt x="0" y="0"/>
                  </a:moveTo>
                  <a:lnTo>
                    <a:pt x="12372622" y="0"/>
                  </a:lnTo>
                  <a:lnTo>
                    <a:pt x="12372622" y="321587"/>
                  </a:lnTo>
                  <a:lnTo>
                    <a:pt x="0" y="321587"/>
                  </a:lnTo>
                  <a:close/>
                </a:path>
              </a:pathLst>
            </a:custGeom>
            <a:solidFill>
              <a:srgbClr val="A3B18A"/>
            </a:solidFill>
          </p:spPr>
        </p:sp>
      </p:grpSp>
      <p:sp>
        <p:nvSpPr>
          <p:cNvPr id="4" name="TextBox 4"/>
          <p:cNvSpPr txBox="1"/>
          <p:nvPr/>
        </p:nvSpPr>
        <p:spPr>
          <a:xfrm>
            <a:off x="357360" y="477521"/>
            <a:ext cx="8266294" cy="497839"/>
          </a:xfrm>
          <a:prstGeom prst="rect">
            <a:avLst/>
          </a:prstGeom>
        </p:spPr>
        <p:txBody>
          <a:bodyPr lIns="0" tIns="0" rIns="0" bIns="0" rtlCol="0" anchor="t">
            <a:spAutoFit/>
          </a:bodyPr>
          <a:lstStyle/>
          <a:p>
            <a:pPr algn="l">
              <a:lnSpc>
                <a:spcPts val="4060"/>
              </a:lnSpc>
            </a:pPr>
            <a:r>
              <a:rPr lang="en-US" sz="2900">
                <a:solidFill>
                  <a:srgbClr val="344E41"/>
                </a:solidFill>
                <a:latin typeface="Prata"/>
                <a:ea typeface="Prata"/>
                <a:cs typeface="Prata"/>
                <a:sym typeface="Prata"/>
              </a:rPr>
              <a:t>RECOMMENDED SECURITY CONTROLS (1)</a:t>
            </a:r>
          </a:p>
        </p:txBody>
      </p:sp>
      <p:sp>
        <p:nvSpPr>
          <p:cNvPr id="5" name="TextBox 5"/>
          <p:cNvSpPr txBox="1"/>
          <p:nvPr/>
        </p:nvSpPr>
        <p:spPr>
          <a:xfrm>
            <a:off x="357360" y="2373630"/>
            <a:ext cx="8442305" cy="5463540"/>
          </a:xfrm>
          <a:prstGeom prst="rect">
            <a:avLst/>
          </a:prstGeom>
        </p:spPr>
        <p:txBody>
          <a:bodyPr lIns="0" tIns="0" rIns="0" bIns="0" rtlCol="0" anchor="t">
            <a:spAutoFit/>
          </a:bodyPr>
          <a:lstStyle/>
          <a:p>
            <a:pPr algn="just">
              <a:lnSpc>
                <a:spcPts val="3149"/>
              </a:lnSpc>
            </a:pPr>
            <a:r>
              <a:rPr lang="en-US" sz="2099">
                <a:solidFill>
                  <a:srgbClr val="344E41"/>
                </a:solidFill>
                <a:latin typeface="Raleway"/>
                <a:ea typeface="Raleway"/>
                <a:cs typeface="Raleway"/>
                <a:sym typeface="Raleway"/>
              </a:rPr>
              <a:t>Hardware Controls: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On-Device Cryptographic Processing:</a:t>
            </a:r>
            <a:r>
              <a:rPr lang="en-US" sz="2099">
                <a:solidFill>
                  <a:srgbClr val="344E41"/>
                </a:solidFill>
                <a:latin typeface="Raleway"/>
                <a:ea typeface="Raleway"/>
                <a:cs typeface="Raleway"/>
                <a:sym typeface="Raleway"/>
              </a:rPr>
              <a:t> Upgrade or configure scanner firmware so that terminal hardware applies non-reversible hashing algorithms directly at the sensor board before transmitting data across the network</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Hardware-Based Cryptographic Protection:</a:t>
            </a:r>
            <a:r>
              <a:rPr lang="en-US" sz="2099">
                <a:solidFill>
                  <a:srgbClr val="344E41"/>
                </a:solidFill>
                <a:latin typeface="Raleway"/>
                <a:ea typeface="Raleway"/>
                <a:cs typeface="Raleway"/>
                <a:sym typeface="Raleway"/>
              </a:rPr>
              <a:t> Ensure biometric reader hardware incorporates dedicated secure chips to protect terminal memory and cryptographic operations from physical or logical extraction.</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Physical Tamper Protection:</a:t>
            </a:r>
            <a:r>
              <a:rPr lang="en-US" sz="2099">
                <a:solidFill>
                  <a:srgbClr val="344E41"/>
                </a:solidFill>
                <a:latin typeface="Raleway"/>
                <a:ea typeface="Raleway"/>
                <a:cs typeface="Raleway"/>
                <a:sym typeface="Raleway"/>
              </a:rPr>
              <a:t> Deploy biometric terminals equipped with hardware chassis tamper switches that immediately wipe cached memory or alert administrators if reader enclosures are physically opened </a:t>
            </a:r>
          </a:p>
          <a:p>
            <a:pPr algn="l">
              <a:lnSpc>
                <a:spcPts val="3149"/>
              </a:lnSpc>
            </a:pPr>
            <a:endParaRPr lang="en-US" sz="2099">
              <a:solidFill>
                <a:srgbClr val="344E41"/>
              </a:solidFill>
              <a:latin typeface="Raleway"/>
              <a:ea typeface="Raleway"/>
              <a:cs typeface="Raleway"/>
              <a:sym typeface="Raleway"/>
            </a:endParaRPr>
          </a:p>
        </p:txBody>
      </p:sp>
      <p:sp>
        <p:nvSpPr>
          <p:cNvPr id="6" name="TextBox 6"/>
          <p:cNvSpPr txBox="1"/>
          <p:nvPr/>
        </p:nvSpPr>
        <p:spPr>
          <a:xfrm>
            <a:off x="9144000" y="1289685"/>
            <a:ext cx="8459518" cy="8197215"/>
          </a:xfrm>
          <a:prstGeom prst="rect">
            <a:avLst/>
          </a:prstGeom>
        </p:spPr>
        <p:txBody>
          <a:bodyPr lIns="0" tIns="0" rIns="0" bIns="0" rtlCol="0" anchor="t">
            <a:spAutoFit/>
          </a:bodyPr>
          <a:lstStyle/>
          <a:p>
            <a:pPr algn="l">
              <a:lnSpc>
                <a:spcPts val="3149"/>
              </a:lnSpc>
            </a:pPr>
            <a:r>
              <a:rPr lang="en-US" sz="2099">
                <a:solidFill>
                  <a:srgbClr val="344E41"/>
                </a:solidFill>
                <a:latin typeface="Raleway"/>
                <a:ea typeface="Raleway"/>
                <a:cs typeface="Raleway"/>
                <a:sym typeface="Raleway"/>
              </a:rPr>
              <a:t>Software Controls: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Mandatory Database Encryption at Rest:</a:t>
            </a:r>
            <a:r>
              <a:rPr lang="en-US" sz="2099">
                <a:solidFill>
                  <a:srgbClr val="344E41"/>
                </a:solidFill>
                <a:latin typeface="Raleway"/>
                <a:ea typeface="Raleway"/>
                <a:cs typeface="Raleway"/>
                <a:sym typeface="Raleway"/>
              </a:rPr>
              <a:t> Implement standard, strong database encryption (such as AES-256) across all storage volumes hosting biometric templates, credentials, and user profiles.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Secure Web Application Frameworks: </a:t>
            </a:r>
            <a:r>
              <a:rPr lang="en-US" sz="2099">
                <a:solidFill>
                  <a:srgbClr val="344E41"/>
                </a:solidFill>
                <a:latin typeface="Raleway"/>
                <a:ea typeface="Raleway"/>
                <a:cs typeface="Raleway"/>
                <a:sym typeface="Raleway"/>
              </a:rPr>
              <a:t>Re-engineer web application API endpoints to enforce strict input validation and parameterized data handling, preventing unauthorized record access or manipulation through address URL changes.</a:t>
            </a:r>
          </a:p>
          <a:p>
            <a:pPr marL="453388" lvl="1" indent="-226694" algn="l">
              <a:lnSpc>
                <a:spcPts val="3149"/>
              </a:lnSpc>
              <a:buFont typeface="Arial"/>
              <a:buChar char="•"/>
            </a:pPr>
            <a:r>
              <a:rPr lang="en-US" sz="2099">
                <a:solidFill>
                  <a:srgbClr val="344E41"/>
                </a:solidFill>
                <a:latin typeface="Raleway"/>
                <a:ea typeface="Raleway"/>
                <a:cs typeface="Raleway"/>
                <a:sym typeface="Raleway"/>
              </a:rPr>
              <a:t>.</a:t>
            </a:r>
            <a:r>
              <a:rPr lang="en-US" sz="2099" b="1">
                <a:solidFill>
                  <a:srgbClr val="344E41"/>
                </a:solidFill>
                <a:latin typeface="Raleway Bold"/>
                <a:ea typeface="Raleway Bold"/>
                <a:cs typeface="Raleway Bold"/>
                <a:sym typeface="Raleway Bold"/>
              </a:rPr>
              <a:t>Cryptographic Password Protection:</a:t>
            </a:r>
            <a:r>
              <a:rPr lang="en-US" sz="2099">
                <a:solidFill>
                  <a:srgbClr val="344E41"/>
                </a:solidFill>
                <a:latin typeface="Raleway"/>
                <a:ea typeface="Raleway"/>
                <a:cs typeface="Raleway"/>
                <a:sym typeface="Raleway"/>
              </a:rPr>
              <a:t> Enforce modern, secure password hashing methods with unique per-user cryptographic salts for all administrative and user credentials stored in software tables.</a:t>
            </a:r>
          </a:p>
          <a:p>
            <a:pPr algn="l">
              <a:lnSpc>
                <a:spcPts val="3149"/>
              </a:lnSpc>
            </a:pPr>
            <a:r>
              <a:rPr lang="en-US" sz="2099">
                <a:solidFill>
                  <a:srgbClr val="344E41"/>
                </a:solidFill>
                <a:latin typeface="Raleway"/>
                <a:ea typeface="Raleway"/>
                <a:cs typeface="Raleway"/>
                <a:sym typeface="Raleway"/>
              </a:rPr>
              <a:t>Physical Security Controls: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Layered Physical Access Points: </a:t>
            </a:r>
            <a:r>
              <a:rPr lang="en-US" sz="2099">
                <a:solidFill>
                  <a:srgbClr val="344E41"/>
                </a:solidFill>
                <a:latin typeface="Raleway"/>
                <a:ea typeface="Raleway"/>
                <a:cs typeface="Raleway"/>
                <a:sym typeface="Raleway"/>
              </a:rPr>
              <a:t>Pair biometric turnstiles with physical security personnel or secondary badge checks at gym entrances to verify identities during high-traffic periods.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Physical Server &amp; Terminal Security</a:t>
            </a:r>
            <a:r>
              <a:rPr lang="en-US" sz="2099">
                <a:solidFill>
                  <a:srgbClr val="344E41"/>
                </a:solidFill>
                <a:latin typeface="Raleway"/>
                <a:ea typeface="Raleway"/>
                <a:cs typeface="Raleway"/>
                <a:sym typeface="Raleway"/>
              </a:rPr>
              <a:t>: Secure central hardware servers and networking equipment in locked communication closets accessible only to authorized IT staff.</a:t>
            </a:r>
          </a:p>
          <a:p>
            <a:pPr algn="l">
              <a:lnSpc>
                <a:spcPts val="3149"/>
              </a:lnSpc>
            </a:pPr>
            <a:endParaRPr lang="en-US" sz="2099">
              <a:solidFill>
                <a:srgbClr val="344E41"/>
              </a:solidFill>
              <a:latin typeface="Raleway"/>
              <a:ea typeface="Raleway"/>
              <a:cs typeface="Raleway"/>
              <a:sym typeface="Raleway"/>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811662"/>
            <a:ext cx="18288000" cy="475338"/>
            <a:chOff x="0" y="0"/>
            <a:chExt cx="12372622" cy="321587"/>
          </a:xfrm>
        </p:grpSpPr>
        <p:sp>
          <p:nvSpPr>
            <p:cNvPr id="3" name="Freeform 3"/>
            <p:cNvSpPr/>
            <p:nvPr/>
          </p:nvSpPr>
          <p:spPr>
            <a:xfrm>
              <a:off x="0" y="0"/>
              <a:ext cx="12372622" cy="321587"/>
            </a:xfrm>
            <a:custGeom>
              <a:avLst/>
              <a:gdLst/>
              <a:ahLst/>
              <a:cxnLst/>
              <a:rect l="l" t="t" r="r" b="b"/>
              <a:pathLst>
                <a:path w="12372622" h="321587">
                  <a:moveTo>
                    <a:pt x="0" y="0"/>
                  </a:moveTo>
                  <a:lnTo>
                    <a:pt x="12372622" y="0"/>
                  </a:lnTo>
                  <a:lnTo>
                    <a:pt x="12372622" y="321587"/>
                  </a:lnTo>
                  <a:lnTo>
                    <a:pt x="0" y="321587"/>
                  </a:lnTo>
                  <a:close/>
                </a:path>
              </a:pathLst>
            </a:custGeom>
            <a:solidFill>
              <a:srgbClr val="A3B18A"/>
            </a:solidFill>
          </p:spPr>
        </p:sp>
      </p:grpSp>
      <p:sp>
        <p:nvSpPr>
          <p:cNvPr id="4" name="TextBox 4"/>
          <p:cNvSpPr txBox="1"/>
          <p:nvPr/>
        </p:nvSpPr>
        <p:spPr>
          <a:xfrm>
            <a:off x="357360" y="477521"/>
            <a:ext cx="8321331" cy="497839"/>
          </a:xfrm>
          <a:prstGeom prst="rect">
            <a:avLst/>
          </a:prstGeom>
        </p:spPr>
        <p:txBody>
          <a:bodyPr lIns="0" tIns="0" rIns="0" bIns="0" rtlCol="0" anchor="t">
            <a:spAutoFit/>
          </a:bodyPr>
          <a:lstStyle/>
          <a:p>
            <a:pPr algn="l">
              <a:lnSpc>
                <a:spcPts val="4060"/>
              </a:lnSpc>
            </a:pPr>
            <a:r>
              <a:rPr lang="en-US" sz="2900">
                <a:solidFill>
                  <a:srgbClr val="344E41"/>
                </a:solidFill>
                <a:latin typeface="Prata"/>
                <a:ea typeface="Prata"/>
                <a:cs typeface="Prata"/>
                <a:sym typeface="Prata"/>
              </a:rPr>
              <a:t>RECOMMENDED SECURITY CONTROLS (2)</a:t>
            </a:r>
          </a:p>
        </p:txBody>
      </p:sp>
      <p:sp>
        <p:nvSpPr>
          <p:cNvPr id="5" name="TextBox 5"/>
          <p:cNvSpPr txBox="1"/>
          <p:nvPr/>
        </p:nvSpPr>
        <p:spPr>
          <a:xfrm>
            <a:off x="357360" y="1256803"/>
            <a:ext cx="8442305" cy="8197215"/>
          </a:xfrm>
          <a:prstGeom prst="rect">
            <a:avLst/>
          </a:prstGeom>
        </p:spPr>
        <p:txBody>
          <a:bodyPr lIns="0" tIns="0" rIns="0" bIns="0" rtlCol="0" anchor="t">
            <a:spAutoFit/>
          </a:bodyPr>
          <a:lstStyle/>
          <a:p>
            <a:pPr algn="just">
              <a:lnSpc>
                <a:spcPts val="3149"/>
              </a:lnSpc>
            </a:pPr>
            <a:r>
              <a:rPr lang="en-US" sz="2099">
                <a:solidFill>
                  <a:srgbClr val="344E41"/>
                </a:solidFill>
                <a:latin typeface="Raleway"/>
                <a:ea typeface="Raleway"/>
                <a:cs typeface="Raleway"/>
                <a:sym typeface="Raleway"/>
              </a:rPr>
              <a:t>Logical Security Controls:</a:t>
            </a:r>
          </a:p>
          <a:p>
            <a:pPr marL="453388" lvl="1" indent="-226694" algn="just">
              <a:lnSpc>
                <a:spcPts val="3149"/>
              </a:lnSpc>
              <a:buFont typeface="Arial"/>
              <a:buChar char="•"/>
            </a:pPr>
            <a:r>
              <a:rPr lang="en-US" sz="2099" b="1">
                <a:solidFill>
                  <a:srgbClr val="344E41"/>
                </a:solidFill>
                <a:latin typeface="Raleway Bold"/>
                <a:ea typeface="Raleway Bold"/>
                <a:cs typeface="Raleway Bold"/>
                <a:sym typeface="Raleway Bold"/>
              </a:rPr>
              <a:t>Database Network Isolation:</a:t>
            </a:r>
            <a:r>
              <a:rPr lang="en-US" sz="2099">
                <a:solidFill>
                  <a:srgbClr val="344E41"/>
                </a:solidFill>
                <a:latin typeface="Raleway"/>
                <a:ea typeface="Raleway"/>
                <a:cs typeface="Raleway"/>
                <a:sym typeface="Raleway"/>
              </a:rPr>
              <a:t> Restrict central database ports behind strict network firewalls, preventing direct public internet reachability.</a:t>
            </a:r>
          </a:p>
          <a:p>
            <a:pPr marL="453388" lvl="1" indent="-226694" algn="just">
              <a:lnSpc>
                <a:spcPts val="3149"/>
              </a:lnSpc>
              <a:buFont typeface="Arial"/>
              <a:buChar char="•"/>
            </a:pPr>
            <a:r>
              <a:rPr lang="en-US" sz="2099" b="1">
                <a:solidFill>
                  <a:srgbClr val="344E41"/>
                </a:solidFill>
                <a:latin typeface="Raleway Bold"/>
                <a:ea typeface="Raleway Bold"/>
                <a:cs typeface="Raleway Bold"/>
                <a:sym typeface="Raleway Bold"/>
              </a:rPr>
              <a:t>Network Segmentation:</a:t>
            </a:r>
            <a:r>
              <a:rPr lang="en-US" sz="2099">
                <a:solidFill>
                  <a:srgbClr val="344E41"/>
                </a:solidFill>
                <a:latin typeface="Raleway"/>
                <a:ea typeface="Raleway"/>
                <a:cs typeface="Raleway"/>
                <a:sym typeface="Raleway"/>
              </a:rPr>
              <a:t> Isolate physical biometric reader hardware on dedicated, separate virtual local area networks (VLANs) isolated from general gym administrative networks.</a:t>
            </a:r>
          </a:p>
          <a:p>
            <a:pPr marL="453388" lvl="1" indent="-226694" algn="just">
              <a:lnSpc>
                <a:spcPts val="3149"/>
              </a:lnSpc>
              <a:buFont typeface="Arial"/>
              <a:buChar char="•"/>
            </a:pPr>
            <a:r>
              <a:rPr lang="en-US" sz="2099" b="1">
                <a:solidFill>
                  <a:srgbClr val="344E41"/>
                </a:solidFill>
                <a:latin typeface="Raleway Bold"/>
                <a:ea typeface="Raleway Bold"/>
                <a:cs typeface="Raleway Bold"/>
                <a:sym typeface="Raleway Bold"/>
              </a:rPr>
              <a:t>Role-Based Access Control (RBAC):</a:t>
            </a:r>
            <a:r>
              <a:rPr lang="en-US" sz="2099">
                <a:solidFill>
                  <a:srgbClr val="344E41"/>
                </a:solidFill>
                <a:latin typeface="Raleway"/>
                <a:ea typeface="Raleway"/>
                <a:cs typeface="Raleway"/>
                <a:sym typeface="Raleway"/>
              </a:rPr>
              <a:t> Enforce strict least-privilege permissions within software dashboards to ensure user roles can only view or modify their necessary system resources.</a:t>
            </a:r>
          </a:p>
          <a:p>
            <a:pPr algn="l">
              <a:lnSpc>
                <a:spcPts val="3149"/>
              </a:lnSpc>
            </a:pPr>
            <a:r>
              <a:rPr lang="en-US" sz="2099">
                <a:solidFill>
                  <a:srgbClr val="344E41"/>
                </a:solidFill>
                <a:latin typeface="Raleway"/>
                <a:ea typeface="Raleway"/>
                <a:cs typeface="Raleway"/>
                <a:sym typeface="Raleway"/>
              </a:rPr>
              <a:t>Administrative Controls: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Multi-Factor Authentication (MFA): </a:t>
            </a:r>
            <a:r>
              <a:rPr lang="en-US" sz="2099">
                <a:solidFill>
                  <a:srgbClr val="344E41"/>
                </a:solidFill>
                <a:latin typeface="Raleway"/>
                <a:ea typeface="Raleway"/>
                <a:cs typeface="Raleway"/>
                <a:sym typeface="Raleway"/>
              </a:rPr>
              <a:t>Require mandatory multi-factor authentication for all administrative accounts accessing the system dashboard.</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Routine Security Audits &amp; Vulnerability Testing:</a:t>
            </a:r>
            <a:r>
              <a:rPr lang="en-US" sz="2099">
                <a:solidFill>
                  <a:srgbClr val="344E41"/>
                </a:solidFill>
                <a:latin typeface="Raleway"/>
                <a:ea typeface="Raleway"/>
                <a:cs typeface="Raleway"/>
                <a:sym typeface="Raleway"/>
              </a:rPr>
              <a:t> Mandate periodic third-party security reviews, penetration testing, and software configuration checks prior to system updates.</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Vendor Risk Assessment Policies:</a:t>
            </a:r>
            <a:r>
              <a:rPr lang="en-US" sz="2099">
                <a:solidFill>
                  <a:srgbClr val="344E41"/>
                </a:solidFill>
                <a:latin typeface="Raleway"/>
                <a:ea typeface="Raleway"/>
                <a:cs typeface="Raleway"/>
                <a:sym typeface="Raleway"/>
              </a:rPr>
              <a:t> Establish formal vendor evaluation standards to verify that third-party hardware and software platforms meet data protection regulations before system deployment.</a:t>
            </a:r>
          </a:p>
        </p:txBody>
      </p:sp>
      <p:sp>
        <p:nvSpPr>
          <p:cNvPr id="6" name="TextBox 6"/>
          <p:cNvSpPr txBox="1"/>
          <p:nvPr/>
        </p:nvSpPr>
        <p:spPr>
          <a:xfrm>
            <a:off x="9144000" y="1256803"/>
            <a:ext cx="8459518" cy="7806690"/>
          </a:xfrm>
          <a:prstGeom prst="rect">
            <a:avLst/>
          </a:prstGeom>
        </p:spPr>
        <p:txBody>
          <a:bodyPr lIns="0" tIns="0" rIns="0" bIns="0" rtlCol="0" anchor="t">
            <a:spAutoFit/>
          </a:bodyPr>
          <a:lstStyle/>
          <a:p>
            <a:pPr algn="l">
              <a:lnSpc>
                <a:spcPts val="3149"/>
              </a:lnSpc>
            </a:pPr>
            <a:r>
              <a:rPr lang="en-US" sz="2099" b="1">
                <a:solidFill>
                  <a:srgbClr val="344E41"/>
                </a:solidFill>
                <a:latin typeface="Raleway Bold"/>
                <a:ea typeface="Raleway Bold"/>
                <a:cs typeface="Raleway Bold"/>
                <a:sym typeface="Raleway Bold"/>
              </a:rPr>
              <a:t>Prevention Through Secure Hardware Implementation:</a:t>
            </a: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Edge-Based Cryptographic Protection: </a:t>
            </a:r>
            <a:r>
              <a:rPr lang="en-US" sz="2099">
                <a:solidFill>
                  <a:srgbClr val="344E41"/>
                </a:solidFill>
                <a:latin typeface="Raleway"/>
                <a:ea typeface="Raleway"/>
                <a:cs typeface="Raleway"/>
                <a:sym typeface="Raleway"/>
              </a:rPr>
              <a:t>Implementing scanner hardware that applies non-reversible hashing at the device level would have prevented raw biometric templates from existing in readable formats. Even if a database compromise occurred, intercepted payloads would have yielded useless mathematical representations instead of raw fingerprint and facial data.</a:t>
            </a:r>
          </a:p>
          <a:p>
            <a:pPr algn="l">
              <a:lnSpc>
                <a:spcPts val="3149"/>
              </a:lnSpc>
            </a:pPr>
            <a:endParaRPr lang="en-US" sz="2099">
              <a:solidFill>
                <a:srgbClr val="344E41"/>
              </a:solidFill>
              <a:latin typeface="Raleway"/>
              <a:ea typeface="Raleway"/>
              <a:cs typeface="Raleway"/>
              <a:sym typeface="Raleway"/>
            </a:endParaRP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Hardware-Based Storage &amp; Integrity Protections: </a:t>
            </a:r>
            <a:r>
              <a:rPr lang="en-US" sz="2099">
                <a:solidFill>
                  <a:srgbClr val="344E41"/>
                </a:solidFill>
                <a:latin typeface="Raleway"/>
                <a:ea typeface="Raleway"/>
                <a:cs typeface="Raleway"/>
                <a:sym typeface="Raleway"/>
              </a:rPr>
              <a:t>Deploying biometric reader hardware equipped with dedicated secure memory components would have ensured that terminal configuration keys, device firmware, and transmitted payloads were cryptographically protected from physical tampering or unauthorized extraction.</a:t>
            </a:r>
          </a:p>
          <a:p>
            <a:pPr algn="l">
              <a:lnSpc>
                <a:spcPts val="3149"/>
              </a:lnSpc>
            </a:pPr>
            <a:endParaRPr lang="en-US" sz="2099">
              <a:solidFill>
                <a:srgbClr val="344E41"/>
              </a:solidFill>
              <a:latin typeface="Raleway"/>
              <a:ea typeface="Raleway"/>
              <a:cs typeface="Raleway"/>
              <a:sym typeface="Raleway"/>
            </a:endParaRPr>
          </a:p>
          <a:p>
            <a:pPr marL="453388" lvl="1" indent="-226694" algn="l">
              <a:lnSpc>
                <a:spcPts val="3149"/>
              </a:lnSpc>
              <a:buFont typeface="Arial"/>
              <a:buChar char="•"/>
            </a:pPr>
            <a:r>
              <a:rPr lang="en-US" sz="2099" b="1">
                <a:solidFill>
                  <a:srgbClr val="344E41"/>
                </a:solidFill>
                <a:latin typeface="Raleway Bold"/>
                <a:ea typeface="Raleway Bold"/>
                <a:cs typeface="Raleway Bold"/>
                <a:sym typeface="Raleway Bold"/>
              </a:rPr>
              <a:t>Encrypted Endpoint Channels: </a:t>
            </a:r>
            <a:r>
              <a:rPr lang="en-US" sz="2099">
                <a:solidFill>
                  <a:srgbClr val="344E41"/>
                </a:solidFill>
                <a:latin typeface="Raleway"/>
                <a:ea typeface="Raleway"/>
                <a:cs typeface="Raleway"/>
                <a:sym typeface="Raleway"/>
              </a:rPr>
              <a:t>Enforcing encrypted end-to-end communication channels directly from physical reader hardware to the server backend would have prevented traffic sniffing or unauthorized data manipulation across local networks.</a:t>
            </a:r>
          </a:p>
          <a:p>
            <a:pPr algn="l">
              <a:lnSpc>
                <a:spcPts val="3149"/>
              </a:lnSpc>
            </a:pPr>
            <a:endParaRPr lang="en-US" sz="2099">
              <a:solidFill>
                <a:srgbClr val="344E41"/>
              </a:solidFill>
              <a:latin typeface="Raleway"/>
              <a:ea typeface="Raleway"/>
              <a:cs typeface="Raleway"/>
              <a:sym typeface="Raleway"/>
            </a:endParaRPr>
          </a:p>
        </p:txBody>
      </p:sp>
      <p:sp>
        <p:nvSpPr>
          <p:cNvPr id="7" name="TextBox 7"/>
          <p:cNvSpPr txBox="1"/>
          <p:nvPr/>
        </p:nvSpPr>
        <p:spPr>
          <a:xfrm>
            <a:off x="10727768" y="530861"/>
            <a:ext cx="5291982" cy="497839"/>
          </a:xfrm>
          <a:prstGeom prst="rect">
            <a:avLst/>
          </a:prstGeom>
        </p:spPr>
        <p:txBody>
          <a:bodyPr lIns="0" tIns="0" rIns="0" bIns="0" rtlCol="0" anchor="t">
            <a:spAutoFit/>
          </a:bodyPr>
          <a:lstStyle/>
          <a:p>
            <a:pPr algn="l">
              <a:lnSpc>
                <a:spcPts val="4060"/>
              </a:lnSpc>
            </a:pPr>
            <a:r>
              <a:rPr lang="en-US" sz="2900">
                <a:solidFill>
                  <a:srgbClr val="344E41"/>
                </a:solidFill>
                <a:latin typeface="Prata"/>
                <a:ea typeface="Prata"/>
                <a:cs typeface="Prata"/>
                <a:sym typeface="Prata"/>
              </a:rPr>
              <a:t>PREVENTION STRATEGY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811662"/>
            <a:ext cx="18288000" cy="475338"/>
            <a:chOff x="0" y="0"/>
            <a:chExt cx="12372622" cy="321587"/>
          </a:xfrm>
        </p:grpSpPr>
        <p:sp>
          <p:nvSpPr>
            <p:cNvPr id="3" name="Freeform 3"/>
            <p:cNvSpPr/>
            <p:nvPr/>
          </p:nvSpPr>
          <p:spPr>
            <a:xfrm>
              <a:off x="0" y="0"/>
              <a:ext cx="12372622" cy="321587"/>
            </a:xfrm>
            <a:custGeom>
              <a:avLst/>
              <a:gdLst/>
              <a:ahLst/>
              <a:cxnLst/>
              <a:rect l="l" t="t" r="r" b="b"/>
              <a:pathLst>
                <a:path w="12372622" h="321587">
                  <a:moveTo>
                    <a:pt x="0" y="0"/>
                  </a:moveTo>
                  <a:lnTo>
                    <a:pt x="12372622" y="0"/>
                  </a:lnTo>
                  <a:lnTo>
                    <a:pt x="12372622" y="321587"/>
                  </a:lnTo>
                  <a:lnTo>
                    <a:pt x="0" y="321587"/>
                  </a:lnTo>
                  <a:close/>
                </a:path>
              </a:pathLst>
            </a:custGeom>
            <a:solidFill>
              <a:srgbClr val="A3B18A"/>
            </a:solidFill>
          </p:spPr>
        </p:sp>
      </p:grpSp>
      <p:sp>
        <p:nvSpPr>
          <p:cNvPr id="4" name="TextBox 4"/>
          <p:cNvSpPr txBox="1"/>
          <p:nvPr/>
        </p:nvSpPr>
        <p:spPr>
          <a:xfrm>
            <a:off x="1028700" y="641350"/>
            <a:ext cx="7435192" cy="688974"/>
          </a:xfrm>
          <a:prstGeom prst="rect">
            <a:avLst/>
          </a:prstGeom>
        </p:spPr>
        <p:txBody>
          <a:bodyPr lIns="0" tIns="0" rIns="0" bIns="0" rtlCol="0" anchor="t">
            <a:spAutoFit/>
          </a:bodyPr>
          <a:lstStyle/>
          <a:p>
            <a:pPr algn="l">
              <a:lnSpc>
                <a:spcPts val="5600"/>
              </a:lnSpc>
            </a:pPr>
            <a:r>
              <a:rPr lang="en-US" sz="4000">
                <a:solidFill>
                  <a:srgbClr val="344E41"/>
                </a:solidFill>
                <a:latin typeface="Prata"/>
                <a:ea typeface="Prata"/>
                <a:cs typeface="Prata"/>
                <a:sym typeface="Prata"/>
              </a:rPr>
              <a:t>PREVENTION STRATEGY (2)</a:t>
            </a:r>
          </a:p>
        </p:txBody>
      </p:sp>
      <p:sp>
        <p:nvSpPr>
          <p:cNvPr id="5" name="TextBox 5"/>
          <p:cNvSpPr txBox="1"/>
          <p:nvPr/>
        </p:nvSpPr>
        <p:spPr>
          <a:xfrm>
            <a:off x="1199518" y="1321076"/>
            <a:ext cx="16230600" cy="8490586"/>
          </a:xfrm>
          <a:prstGeom prst="rect">
            <a:avLst/>
          </a:prstGeom>
        </p:spPr>
        <p:txBody>
          <a:bodyPr lIns="0" tIns="0" rIns="0" bIns="0" rtlCol="0" anchor="t">
            <a:spAutoFit/>
          </a:bodyPr>
          <a:lstStyle/>
          <a:p>
            <a:pPr algn="just">
              <a:lnSpc>
                <a:spcPts val="3599"/>
              </a:lnSpc>
            </a:pPr>
            <a:r>
              <a:rPr lang="en-US" sz="2399" b="1">
                <a:solidFill>
                  <a:srgbClr val="344E41"/>
                </a:solidFill>
                <a:latin typeface="Raleway Bold"/>
                <a:ea typeface="Raleway Bold"/>
                <a:cs typeface="Raleway Bold"/>
                <a:sym typeface="Raleway Bold"/>
              </a:rPr>
              <a:t>Prevention Through Secure Software Development Lifecycle (SSDLC):</a:t>
            </a:r>
          </a:p>
          <a:p>
            <a:pPr marL="518157" lvl="1" indent="-259078" algn="l">
              <a:lnSpc>
                <a:spcPts val="3599"/>
              </a:lnSpc>
              <a:buFont typeface="Arial"/>
              <a:buChar char="•"/>
            </a:pPr>
            <a:r>
              <a:rPr lang="en-US" sz="2399" b="1">
                <a:solidFill>
                  <a:srgbClr val="344E41"/>
                </a:solidFill>
                <a:latin typeface="Raleway Bold"/>
                <a:ea typeface="Raleway Bold"/>
                <a:cs typeface="Raleway Bold"/>
                <a:sym typeface="Raleway Bold"/>
              </a:rPr>
              <a:t>Secure Architecture &amp; Threat Modeling (Design Phase):</a:t>
            </a:r>
            <a:r>
              <a:rPr lang="en-US" sz="2399">
                <a:solidFill>
                  <a:srgbClr val="344E41"/>
                </a:solidFill>
                <a:latin typeface="Raleway"/>
                <a:ea typeface="Raleway"/>
                <a:cs typeface="Raleway"/>
                <a:sym typeface="Raleway"/>
              </a:rPr>
              <a:t> During the initial architectural design phase, threat modeling would have identified the high risk of storing unencrypted biometric data and exposing database ports to public networks. Designing the system under the principle of "Security by Design" would have mandated default database authentication and AES-256 encryption at rest for all sensitive data.</a:t>
            </a:r>
          </a:p>
          <a:p>
            <a:pPr algn="l">
              <a:lnSpc>
                <a:spcPts val="3599"/>
              </a:lnSpc>
            </a:pPr>
            <a:endParaRPr lang="en-US" sz="2399">
              <a:solidFill>
                <a:srgbClr val="344E41"/>
              </a:solidFill>
              <a:latin typeface="Raleway"/>
              <a:ea typeface="Raleway"/>
              <a:cs typeface="Raleway"/>
              <a:sym typeface="Raleway"/>
            </a:endParaRPr>
          </a:p>
          <a:p>
            <a:pPr marL="518157" lvl="1" indent="-259078" algn="l">
              <a:lnSpc>
                <a:spcPts val="3599"/>
              </a:lnSpc>
              <a:buFont typeface="Arial"/>
              <a:buChar char="•"/>
            </a:pPr>
            <a:r>
              <a:rPr lang="en-US" sz="2399" b="1">
                <a:solidFill>
                  <a:srgbClr val="344E41"/>
                </a:solidFill>
                <a:latin typeface="Raleway Bold"/>
                <a:ea typeface="Raleway Bold"/>
                <a:cs typeface="Raleway Bold"/>
                <a:sym typeface="Raleway Bold"/>
              </a:rPr>
              <a:t>Automated &amp; Manual Security Code Reviews (Development Phase): </a:t>
            </a:r>
            <a:r>
              <a:rPr lang="en-US" sz="2399">
                <a:solidFill>
                  <a:srgbClr val="344E41"/>
                </a:solidFill>
                <a:latin typeface="Raleway"/>
                <a:ea typeface="Raleway"/>
                <a:cs typeface="Raleway"/>
                <a:sym typeface="Raleway"/>
              </a:rPr>
              <a:t>Incorporating static and dynamic software testing tools into the development process would have automatically flagged plain-text password storage, unhashed biometric variables, and improper URL parameter handling prior to software deployment.</a:t>
            </a:r>
          </a:p>
          <a:p>
            <a:pPr algn="l">
              <a:lnSpc>
                <a:spcPts val="3599"/>
              </a:lnSpc>
            </a:pPr>
            <a:endParaRPr lang="en-US" sz="2399">
              <a:solidFill>
                <a:srgbClr val="344E41"/>
              </a:solidFill>
              <a:latin typeface="Raleway"/>
              <a:ea typeface="Raleway"/>
              <a:cs typeface="Raleway"/>
              <a:sym typeface="Raleway"/>
            </a:endParaRPr>
          </a:p>
          <a:p>
            <a:pPr marL="518157" lvl="1" indent="-259078" algn="l">
              <a:lnSpc>
                <a:spcPts val="3599"/>
              </a:lnSpc>
              <a:buFont typeface="Arial"/>
              <a:buChar char="•"/>
            </a:pPr>
            <a:r>
              <a:rPr lang="en-US" sz="2399" b="1">
                <a:solidFill>
                  <a:srgbClr val="344E41"/>
                </a:solidFill>
                <a:latin typeface="Raleway Bold"/>
                <a:ea typeface="Raleway Bold"/>
                <a:cs typeface="Raleway Bold"/>
                <a:sym typeface="Raleway Bold"/>
              </a:rPr>
              <a:t>Strict Parameterized Queries &amp; Access Controls (Coding Standards):</a:t>
            </a:r>
            <a:r>
              <a:rPr lang="en-US" sz="2399">
                <a:solidFill>
                  <a:srgbClr val="344E41"/>
                </a:solidFill>
                <a:latin typeface="Raleway"/>
                <a:ea typeface="Raleway"/>
                <a:cs typeface="Raleway"/>
                <a:sym typeface="Raleway"/>
              </a:rPr>
              <a:t> Adhering to secure coding guidelines would have ensured that all web application endpoints enforced server-side permission checks and sanitized input parameters, preventing authorization bypasses via address bar manipulation.</a:t>
            </a:r>
          </a:p>
          <a:p>
            <a:pPr algn="l">
              <a:lnSpc>
                <a:spcPts val="3599"/>
              </a:lnSpc>
            </a:pPr>
            <a:endParaRPr lang="en-US" sz="2399">
              <a:solidFill>
                <a:srgbClr val="344E41"/>
              </a:solidFill>
              <a:latin typeface="Raleway"/>
              <a:ea typeface="Raleway"/>
              <a:cs typeface="Raleway"/>
              <a:sym typeface="Raleway"/>
            </a:endParaRPr>
          </a:p>
          <a:p>
            <a:pPr marL="518157" lvl="1" indent="-259078" algn="l">
              <a:lnSpc>
                <a:spcPts val="3599"/>
              </a:lnSpc>
              <a:buFont typeface="Arial"/>
              <a:buChar char="•"/>
            </a:pPr>
            <a:r>
              <a:rPr lang="en-US" sz="2399" b="1">
                <a:solidFill>
                  <a:srgbClr val="344E41"/>
                </a:solidFill>
                <a:latin typeface="Raleway Bold"/>
                <a:ea typeface="Raleway Bold"/>
                <a:cs typeface="Raleway Bold"/>
                <a:sym typeface="Raleway Bold"/>
              </a:rPr>
              <a:t>Comprehensive Pre-Deployment Vulnerability Audits (Testing Phase): </a:t>
            </a:r>
            <a:r>
              <a:rPr lang="en-US" sz="2399">
                <a:solidFill>
                  <a:srgbClr val="344E41"/>
                </a:solidFill>
                <a:latin typeface="Raleway"/>
                <a:ea typeface="Raleway"/>
                <a:cs typeface="Raleway"/>
                <a:sym typeface="Raleway"/>
              </a:rPr>
              <a:t>Conducting mandatory third-party security audits and penetration testing before releasing production updates would have exposed the unauthenticated Elasticsearch database port and missing login prompts, allowing developers to apply firewall rules and access control lists prior to public deployment.</a:t>
            </a:r>
          </a:p>
          <a:p>
            <a:pPr algn="just">
              <a:lnSpc>
                <a:spcPts val="3599"/>
              </a:lnSpc>
            </a:pPr>
            <a:endParaRPr lang="en-US" sz="2399">
              <a:solidFill>
                <a:srgbClr val="344E41"/>
              </a:solidFill>
              <a:latin typeface="Raleway"/>
              <a:ea typeface="Raleway"/>
              <a:cs typeface="Raleway"/>
              <a:sym typeface="Ralewa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811662"/>
            <a:ext cx="18288000" cy="475338"/>
            <a:chOff x="0" y="0"/>
            <a:chExt cx="12372622" cy="321587"/>
          </a:xfrm>
        </p:grpSpPr>
        <p:sp>
          <p:nvSpPr>
            <p:cNvPr id="3" name="Freeform 3"/>
            <p:cNvSpPr/>
            <p:nvPr/>
          </p:nvSpPr>
          <p:spPr>
            <a:xfrm>
              <a:off x="0" y="0"/>
              <a:ext cx="12372622" cy="321587"/>
            </a:xfrm>
            <a:custGeom>
              <a:avLst/>
              <a:gdLst/>
              <a:ahLst/>
              <a:cxnLst/>
              <a:rect l="l" t="t" r="r" b="b"/>
              <a:pathLst>
                <a:path w="12372622" h="321587">
                  <a:moveTo>
                    <a:pt x="0" y="0"/>
                  </a:moveTo>
                  <a:lnTo>
                    <a:pt x="12372622" y="0"/>
                  </a:lnTo>
                  <a:lnTo>
                    <a:pt x="12372622" y="321587"/>
                  </a:lnTo>
                  <a:lnTo>
                    <a:pt x="0" y="321587"/>
                  </a:lnTo>
                  <a:close/>
                </a:path>
              </a:pathLst>
            </a:custGeom>
            <a:solidFill>
              <a:srgbClr val="A3B18A"/>
            </a:solidFill>
          </p:spPr>
        </p:sp>
      </p:grpSp>
      <p:sp>
        <p:nvSpPr>
          <p:cNvPr id="4" name="TextBox 4"/>
          <p:cNvSpPr txBox="1"/>
          <p:nvPr/>
        </p:nvSpPr>
        <p:spPr>
          <a:xfrm>
            <a:off x="1028700" y="2549801"/>
            <a:ext cx="3772844" cy="688974"/>
          </a:xfrm>
          <a:prstGeom prst="rect">
            <a:avLst/>
          </a:prstGeom>
        </p:spPr>
        <p:txBody>
          <a:bodyPr lIns="0" tIns="0" rIns="0" bIns="0" rtlCol="0" anchor="t">
            <a:spAutoFit/>
          </a:bodyPr>
          <a:lstStyle/>
          <a:p>
            <a:pPr algn="l">
              <a:lnSpc>
                <a:spcPts val="5600"/>
              </a:lnSpc>
            </a:pPr>
            <a:r>
              <a:rPr lang="en-US" sz="4000">
                <a:solidFill>
                  <a:srgbClr val="344E41"/>
                </a:solidFill>
                <a:latin typeface="Prata"/>
                <a:ea typeface="Prata"/>
                <a:cs typeface="Prata"/>
                <a:sym typeface="Prata"/>
              </a:rPr>
              <a:t>CONCLUSION</a:t>
            </a:r>
          </a:p>
        </p:txBody>
      </p:sp>
      <p:sp>
        <p:nvSpPr>
          <p:cNvPr id="5" name="TextBox 5"/>
          <p:cNvSpPr txBox="1"/>
          <p:nvPr/>
        </p:nvSpPr>
        <p:spPr>
          <a:xfrm>
            <a:off x="1028700" y="2559326"/>
            <a:ext cx="16230600" cy="5356861"/>
          </a:xfrm>
          <a:prstGeom prst="rect">
            <a:avLst/>
          </a:prstGeom>
        </p:spPr>
        <p:txBody>
          <a:bodyPr lIns="0" tIns="0" rIns="0" bIns="0" rtlCol="0" anchor="t">
            <a:spAutoFit/>
          </a:bodyPr>
          <a:lstStyle/>
          <a:p>
            <a:pPr algn="just">
              <a:lnSpc>
                <a:spcPts val="3599"/>
              </a:lnSpc>
            </a:pPr>
            <a:endParaRPr/>
          </a:p>
          <a:p>
            <a:pPr algn="just">
              <a:lnSpc>
                <a:spcPts val="3599"/>
              </a:lnSpc>
            </a:pPr>
            <a:endParaRPr/>
          </a:p>
          <a:p>
            <a:pPr algn="just">
              <a:lnSpc>
                <a:spcPts val="3599"/>
              </a:lnSpc>
            </a:pPr>
            <a:r>
              <a:rPr lang="en-US" sz="2399">
                <a:solidFill>
                  <a:srgbClr val="344E41"/>
                </a:solidFill>
                <a:latin typeface="Raleway"/>
                <a:ea typeface="Raleway"/>
                <a:cs typeface="Raleway"/>
                <a:sym typeface="Raleway"/>
              </a:rPr>
              <a:t>The 2019 Power World Gyms data breach shows what happens when both hardware and software security fail at the same time. The physical scanners captured raw fingerprints and face scans without scrambling the data first. At the same time, the backend system stored that sensitive information without encryption, left the database open to the public internet without a password, saved admin login details in plain text, and allowed users to alter profiles just by tweaking website link addresses.</a:t>
            </a:r>
          </a:p>
          <a:p>
            <a:pPr algn="just">
              <a:lnSpc>
                <a:spcPts val="3599"/>
              </a:lnSpc>
            </a:pPr>
            <a:endParaRPr lang="en-US" sz="2399">
              <a:solidFill>
                <a:srgbClr val="344E41"/>
              </a:solidFill>
              <a:latin typeface="Raleway"/>
              <a:ea typeface="Raleway"/>
              <a:cs typeface="Raleway"/>
              <a:sym typeface="Raleway"/>
            </a:endParaRPr>
          </a:p>
          <a:p>
            <a:pPr algn="just">
              <a:lnSpc>
                <a:spcPts val="3599"/>
              </a:lnSpc>
            </a:pPr>
            <a:r>
              <a:rPr lang="en-US" sz="2399">
                <a:solidFill>
                  <a:srgbClr val="344E41"/>
                </a:solidFill>
                <a:latin typeface="Raleway"/>
                <a:ea typeface="Raleway"/>
                <a:cs typeface="Raleway"/>
                <a:sym typeface="Raleway"/>
              </a:rPr>
              <a:t>Because biological traits like fingerprints and facial features cannot be changed like regular digital passwords, losing this information permanently exposes the private identities of thousands of users. Ultimately, this case proves that real security requires safety at every step—from the physical scanner on the wall to the server hosting the database.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811662"/>
            <a:ext cx="18288000" cy="475338"/>
            <a:chOff x="0" y="0"/>
            <a:chExt cx="12372622" cy="321587"/>
          </a:xfrm>
        </p:grpSpPr>
        <p:sp>
          <p:nvSpPr>
            <p:cNvPr id="3" name="Freeform 3"/>
            <p:cNvSpPr/>
            <p:nvPr/>
          </p:nvSpPr>
          <p:spPr>
            <a:xfrm>
              <a:off x="0" y="0"/>
              <a:ext cx="12372622" cy="321587"/>
            </a:xfrm>
            <a:custGeom>
              <a:avLst/>
              <a:gdLst/>
              <a:ahLst/>
              <a:cxnLst/>
              <a:rect l="l" t="t" r="r" b="b"/>
              <a:pathLst>
                <a:path w="12372622" h="321587">
                  <a:moveTo>
                    <a:pt x="0" y="0"/>
                  </a:moveTo>
                  <a:lnTo>
                    <a:pt x="12372622" y="0"/>
                  </a:lnTo>
                  <a:lnTo>
                    <a:pt x="12372622" y="321587"/>
                  </a:lnTo>
                  <a:lnTo>
                    <a:pt x="0" y="321587"/>
                  </a:lnTo>
                  <a:close/>
                </a:path>
              </a:pathLst>
            </a:custGeom>
            <a:solidFill>
              <a:srgbClr val="A3B18A"/>
            </a:solidFill>
          </p:spPr>
        </p:sp>
      </p:grpSp>
      <p:sp>
        <p:nvSpPr>
          <p:cNvPr id="4" name="TextBox 4"/>
          <p:cNvSpPr txBox="1"/>
          <p:nvPr/>
        </p:nvSpPr>
        <p:spPr>
          <a:xfrm>
            <a:off x="1028700" y="942975"/>
            <a:ext cx="4496271" cy="688974"/>
          </a:xfrm>
          <a:prstGeom prst="rect">
            <a:avLst/>
          </a:prstGeom>
        </p:spPr>
        <p:txBody>
          <a:bodyPr lIns="0" tIns="0" rIns="0" bIns="0" rtlCol="0" anchor="t">
            <a:spAutoFit/>
          </a:bodyPr>
          <a:lstStyle/>
          <a:p>
            <a:pPr algn="l">
              <a:lnSpc>
                <a:spcPts val="5600"/>
              </a:lnSpc>
            </a:pPr>
            <a:r>
              <a:rPr lang="en-US" sz="4000">
                <a:solidFill>
                  <a:srgbClr val="344E41"/>
                </a:solidFill>
                <a:latin typeface="Prata"/>
                <a:ea typeface="Prata"/>
                <a:cs typeface="Prata"/>
                <a:sym typeface="Prata"/>
              </a:rPr>
              <a:t>REFERENCES</a:t>
            </a:r>
          </a:p>
        </p:txBody>
      </p:sp>
      <p:sp>
        <p:nvSpPr>
          <p:cNvPr id="5" name="TextBox 5"/>
          <p:cNvSpPr txBox="1"/>
          <p:nvPr/>
        </p:nvSpPr>
        <p:spPr>
          <a:xfrm>
            <a:off x="1028700" y="1555749"/>
            <a:ext cx="16230600" cy="8197215"/>
          </a:xfrm>
          <a:prstGeom prst="rect">
            <a:avLst/>
          </a:prstGeom>
        </p:spPr>
        <p:txBody>
          <a:bodyPr lIns="0" tIns="0" rIns="0" bIns="0" rtlCol="0" anchor="t">
            <a:spAutoFit/>
          </a:bodyPr>
          <a:lstStyle/>
          <a:p>
            <a:pPr marL="453388" lvl="1" indent="-226694" algn="l">
              <a:lnSpc>
                <a:spcPts val="3149"/>
              </a:lnSpc>
              <a:buFont typeface="Arial"/>
              <a:buChar char="•"/>
            </a:pPr>
            <a:r>
              <a:rPr lang="en-US" sz="2099">
                <a:solidFill>
                  <a:srgbClr val="344E41"/>
                </a:solidFill>
                <a:latin typeface="Raleway"/>
                <a:ea typeface="Raleway"/>
                <a:cs typeface="Raleway"/>
                <a:sym typeface="Raleway"/>
              </a:rPr>
              <a:t>Rotem, N., &amp; Locar, R. (2019, August 14). Report: Major Breach Found in BioStar 2 Database. vpnMentor Research Lab. </a:t>
            </a:r>
            <a:r>
              <a:rPr lang="en-US" sz="2099" u="sng">
                <a:solidFill>
                  <a:srgbClr val="344E41"/>
                </a:solidFill>
                <a:latin typeface="Raleway"/>
                <a:ea typeface="Raleway"/>
                <a:cs typeface="Raleway"/>
                <a:sym typeface="Raleway"/>
                <a:hlinkClick r:id="rId2" tooltip="https://www.vpnmentor.com/blog/report-biostar2-leak/"/>
              </a:rPr>
              <a:t>https://www.vpnmentor.com/blog/report-biostar2-leak/</a:t>
            </a:r>
          </a:p>
          <a:p>
            <a:pPr marL="453388" lvl="1" indent="-226694" algn="l">
              <a:lnSpc>
                <a:spcPts val="3149"/>
              </a:lnSpc>
              <a:buFont typeface="Arial"/>
              <a:buChar char="•"/>
            </a:pPr>
            <a:r>
              <a:rPr lang="en-US" sz="2099">
                <a:solidFill>
                  <a:srgbClr val="344E41"/>
                </a:solidFill>
                <a:latin typeface="Raleway"/>
                <a:ea typeface="Raleway"/>
                <a:cs typeface="Raleway"/>
                <a:sym typeface="Raleway"/>
              </a:rPr>
              <a:t>CEM Systems &amp; Suprema Inc. (2018). Suprema BioStar 2 Integrated Security Platform Technical Specification Datasheet. AeroExpo / CEM Systems Documentation. </a:t>
            </a:r>
            <a:r>
              <a:rPr lang="en-US" sz="2099" u="sng">
                <a:solidFill>
                  <a:srgbClr val="344E41"/>
                </a:solidFill>
                <a:latin typeface="Raleway"/>
                <a:ea typeface="Raleway"/>
                <a:cs typeface="Raleway"/>
                <a:sym typeface="Raleway"/>
                <a:hlinkClick r:id="rId3" tooltip="https://pdf.aeroexpo.online/pdf/cem-systems/suprema-biostar-2/172460-29410.html"/>
              </a:rPr>
              <a:t>https://pdf.aeroexpo.online/pdf/cem-systems/suprema-biostar-2/172460-29410.html</a:t>
            </a:r>
          </a:p>
          <a:p>
            <a:pPr marL="453388" lvl="1" indent="-226694" algn="l">
              <a:lnSpc>
                <a:spcPts val="3149"/>
              </a:lnSpc>
              <a:buFont typeface="Arial"/>
              <a:buChar char="•"/>
            </a:pPr>
            <a:r>
              <a:rPr lang="en-US" sz="2099">
                <a:solidFill>
                  <a:srgbClr val="344E41"/>
                </a:solidFill>
                <a:latin typeface="Raleway"/>
                <a:ea typeface="Raleway"/>
                <a:cs typeface="Raleway"/>
                <a:sym typeface="Raleway"/>
              </a:rPr>
              <a:t>Infosecurity Magazine. (2019, August 14). Millions of Records Exposed in Biometric Database. Reed Exhibitions / Infosecurity Group. </a:t>
            </a:r>
            <a:r>
              <a:rPr lang="en-US" sz="2099" u="sng">
                <a:solidFill>
                  <a:srgbClr val="344E41"/>
                </a:solidFill>
                <a:latin typeface="Raleway"/>
                <a:ea typeface="Raleway"/>
                <a:cs typeface="Raleway"/>
                <a:sym typeface="Raleway"/>
                <a:hlinkClick r:id="rId4" tooltip="https://www.infosecurity-magazine.com/news/millions-of-records-exposed/"/>
              </a:rPr>
              <a:t>https://www.infosecurity-magazine.com/news/millions-of-records-exposed/</a:t>
            </a:r>
          </a:p>
          <a:p>
            <a:pPr marL="453388" lvl="1" indent="-226694" algn="l">
              <a:lnSpc>
                <a:spcPts val="3149"/>
              </a:lnSpc>
              <a:buFont typeface="Arial"/>
              <a:buChar char="•"/>
            </a:pPr>
            <a:r>
              <a:rPr lang="en-US" sz="2099">
                <a:solidFill>
                  <a:srgbClr val="344E41"/>
                </a:solidFill>
                <a:latin typeface="Raleway"/>
                <a:ea typeface="Raleway"/>
                <a:cs typeface="Raleway"/>
                <a:sym typeface="Raleway"/>
              </a:rPr>
              <a:t>Adhikari, R. (2019, August 15). 28M Records Exposed in Biometric Security Data Breach. TechNewsWorld / ECT News Network. </a:t>
            </a:r>
            <a:r>
              <a:rPr lang="en-US" sz="2099" u="sng">
                <a:solidFill>
                  <a:srgbClr val="344E41"/>
                </a:solidFill>
                <a:latin typeface="Raleway"/>
                <a:ea typeface="Raleway"/>
                <a:cs typeface="Raleway"/>
                <a:sym typeface="Raleway"/>
                <a:hlinkClick r:id="rId5" tooltip="https://www.technewsworld.com/story/28m-records-exposed-in-biometric-security-data-breach-86186.html"/>
              </a:rPr>
              <a:t>https://www.technewsworld.com/story/28m-records-exposed-in-biometric-security-data-breach-86186.html</a:t>
            </a:r>
          </a:p>
          <a:p>
            <a:pPr marL="453388" lvl="1" indent="-226694" algn="l">
              <a:lnSpc>
                <a:spcPts val="3149"/>
              </a:lnSpc>
              <a:buFont typeface="Arial"/>
              <a:buChar char="•"/>
            </a:pPr>
            <a:r>
              <a:rPr lang="en-US" sz="2099">
                <a:solidFill>
                  <a:srgbClr val="344E41"/>
                </a:solidFill>
                <a:latin typeface="Raleway"/>
                <a:ea typeface="Raleway"/>
                <a:cs typeface="Raleway"/>
                <a:sym typeface="Raleway"/>
              </a:rPr>
              <a:t>Endeavor Business Media. (2019, August 22). Report: Biometric Data Exposed in Suprema BioStar 2 Breach. Endeavor Business Media. </a:t>
            </a:r>
            <a:r>
              <a:rPr lang="en-US" sz="2099" u="sng">
                <a:solidFill>
                  <a:srgbClr val="344E41"/>
                </a:solidFill>
                <a:latin typeface="Raleway"/>
                <a:ea typeface="Raleway"/>
                <a:cs typeface="Raleway"/>
                <a:sym typeface="Raleway"/>
                <a:hlinkClick r:id="rId6" tooltip="https://www.securityinfowatch.com/access-identity/biometrics/news/21093873/report-biometric-data-exposed-in-suprema-biostar-2-breach"/>
              </a:rPr>
              <a:t>https://www.securityinfowatch.com/access-identity/biometrics/news/21093873/report-biometric-data-exposed-in-suprema-biostar-2-breach</a:t>
            </a:r>
          </a:p>
          <a:p>
            <a:pPr marL="453388" lvl="1" indent="-226694" algn="l">
              <a:lnSpc>
                <a:spcPts val="3149"/>
              </a:lnSpc>
              <a:buFont typeface="Arial"/>
              <a:buChar char="•"/>
            </a:pPr>
            <a:r>
              <a:rPr lang="en-US" sz="2099">
                <a:solidFill>
                  <a:srgbClr val="344E41"/>
                </a:solidFill>
                <a:latin typeface="Raleway"/>
                <a:ea typeface="Raleway"/>
                <a:cs typeface="Raleway"/>
                <a:sym typeface="Raleway"/>
              </a:rPr>
              <a:t>Burt, C. (2019, August 15). Millions of Unencrypted Biometric Fingerprint and Face Records Exposed to Web; Suprema Responds. Biometric Update / Iristech. </a:t>
            </a:r>
            <a:r>
              <a:rPr lang="en-US" sz="2099" u="sng">
                <a:solidFill>
                  <a:srgbClr val="344E41"/>
                </a:solidFill>
                <a:latin typeface="Raleway"/>
                <a:ea typeface="Raleway"/>
                <a:cs typeface="Raleway"/>
                <a:sym typeface="Raleway"/>
                <a:hlinkClick r:id="rId7" tooltip="https://www.biometricupdate.com/201908/millions-of-unencrypted-biometric-fingerprint-and-face-records-exposed-to-web-suprema-responds"/>
              </a:rPr>
              <a:t>https://www.biometricupdate.com/201908/millions-of-unencrypted-biometric-fingerprint-and-face-records-exposed-to-web-suprema-responds</a:t>
            </a:r>
          </a:p>
          <a:p>
            <a:pPr marL="453388" lvl="1" indent="-226694" algn="l">
              <a:lnSpc>
                <a:spcPts val="3149"/>
              </a:lnSpc>
              <a:buFont typeface="Arial"/>
              <a:buChar char="•"/>
            </a:pPr>
            <a:r>
              <a:rPr lang="en-US" sz="2099">
                <a:solidFill>
                  <a:srgbClr val="344E41"/>
                </a:solidFill>
                <a:latin typeface="Raleway"/>
                <a:ea typeface="Raleway"/>
                <a:cs typeface="Raleway"/>
                <a:sym typeface="Raleway"/>
              </a:rPr>
              <a:t>Tech Monitor (2019, August 14). White Hats Hack BioStar 2 Biometrics Database, Expose 27.8M Records. Tech Monitor / NS Media Group. </a:t>
            </a:r>
            <a:r>
              <a:rPr lang="en-US" sz="2099" u="sng">
                <a:solidFill>
                  <a:srgbClr val="344E41"/>
                </a:solidFill>
                <a:latin typeface="Raleway"/>
                <a:ea typeface="Raleway"/>
                <a:cs typeface="Raleway"/>
                <a:sym typeface="Raleway"/>
                <a:hlinkClick r:id="rId8" tooltip="https://www.techmonitor.ai/technology/cybersecurity/biostar-2-vpnmentor"/>
              </a:rPr>
              <a:t>https://www.techmonitor.ai/technology/cybersecurity/biostar-2-vpnmentor</a:t>
            </a:r>
          </a:p>
          <a:p>
            <a:pPr marL="453388" lvl="1" indent="-226694" algn="l">
              <a:lnSpc>
                <a:spcPts val="3149"/>
              </a:lnSpc>
              <a:buFont typeface="Arial"/>
              <a:buChar char="•"/>
            </a:pPr>
            <a:r>
              <a:rPr lang="en-US" sz="2099">
                <a:solidFill>
                  <a:srgbClr val="344E41"/>
                </a:solidFill>
                <a:latin typeface="Raleway"/>
                <a:ea typeface="Raleway"/>
                <a:cs typeface="Raleway"/>
                <a:sym typeface="Raleway"/>
              </a:rPr>
              <a:t>Orr, J. (2019, August 16). Incident of the week: Passwords and biometrics info for one million users exposed in BioStar 2 data breach. Cyber Security Hub. </a:t>
            </a:r>
            <a:r>
              <a:rPr lang="en-US" sz="2099" u="sng">
                <a:solidFill>
                  <a:srgbClr val="344E41"/>
                </a:solidFill>
                <a:latin typeface="Raleway"/>
                <a:ea typeface="Raleway"/>
                <a:cs typeface="Raleway"/>
                <a:sym typeface="Raleway"/>
                <a:hlinkClick r:id="rId9" tooltip="https://www.cshub.com/attacks/articles/incident-of-the-week-passwords-and-biometrics-info-for-one-million-users-exposed-in-biostar-2-data-breach"/>
              </a:rPr>
              <a:t>https://www.cshub.com/attacks/articles/incident-of-the-week-passwords-and-biometrics-info-for-one-million-users-exposed-in-biostar-2-data-breach</a:t>
            </a:r>
          </a:p>
          <a:p>
            <a:pPr algn="just">
              <a:lnSpc>
                <a:spcPts val="3149"/>
              </a:lnSpc>
            </a:pPr>
            <a:endParaRPr lang="en-US" sz="2099" u="sng">
              <a:solidFill>
                <a:srgbClr val="344E41"/>
              </a:solidFill>
              <a:latin typeface="Raleway"/>
              <a:ea typeface="Raleway"/>
              <a:cs typeface="Raleway"/>
              <a:sym typeface="Raleway"/>
              <a:hlinkClick r:id="rId9" tooltip="https://www.cshub.com/attacks/articles/incident-of-the-week-passwords-and-biometrics-info-for-one-million-users-exposed-in-biostar-2-data-breach"/>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3668</Words>
  <Application>Microsoft Office PowerPoint</Application>
  <PresentationFormat>Custom</PresentationFormat>
  <Paragraphs>367</Paragraphs>
  <Slides>11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Prata</vt:lpstr>
      <vt:lpstr>Arial</vt:lpstr>
      <vt:lpstr>Calibri</vt:lpstr>
      <vt:lpstr>Raleway</vt:lpstr>
      <vt:lpstr>Raleway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Monochromatic Simple The Minimalist Presentation Template</dc:title>
  <cp:lastModifiedBy>Rodel James Maraon</cp:lastModifiedBy>
  <cp:revision>2</cp:revision>
  <dcterms:created xsi:type="dcterms:W3CDTF">2006-08-16T00:00:00Z</dcterms:created>
  <dcterms:modified xsi:type="dcterms:W3CDTF">2026-09-19T13:23:27Z</dcterms:modified>
  <dc:identifier>DAHVDInizJI</dc:identifier>
</cp:coreProperties>
</file>